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9405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this. Korean Lab is free, made by our own school, and it runs in the phone's browser — nothing to download. Today I'll show you how it works, then get it onto your phones before you leave.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cue: open the site on the projector, swipe two or three cards, and tap the picture twice so they hear two different speakers. Then press 'I know this' so they see the card leave.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37% number is honest and it is explained in the app itself — tap the coverage line at the bottom of the Progress page. It counts content words in everyday spoken Korean, not all words.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Kids chase the medals; adults chase the songs. Nothing on screen ever counts down what is still locked — you only ever see what you have earned.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a full minute here. Walk the room and make sure every phone actually opened the page before moving on — the next slide only makes sense once the page is up.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part twice: sign in with Google, or the progress does not follow them. Everything else is optional; that one is not.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45C"/>
        </a:solidFill>
        <a:effectLst/>
      </p:bgPr>
    </p:bg>
    <p:spTree>
      <p:nvGrpSpPr>
        <p:cNvPr id="1" name=""/>
        <p:cNvGrpSpPr/>
        <p:nvPr/>
      </p:nvGrpSpPr>
      <p:grpSpPr>
        <a:xfrm>
          <a:off x="0" y="0"/>
          <a:ext cx="0" cy="0"/>
          <a:chOff x="0" y="0"/>
          <a:chExt cx="0" cy="0"/>
        </a:xfrm>
      </p:grpSpPr>
      <p:pic>
        <p:nvPicPr>
          <p:cNvPr id="2" name="Image 0" descr="png/logo-navy.png"/>
          <p:cNvPicPr>
            <a:picLocks noChangeAspect="1"/>
          </p:cNvPicPr>
          <p:nvPr/>
        </p:nvPicPr>
        <p:blipFill>
          <a:blip r:embed="rId3"/>
          <a:stretch>
            <a:fillRect/>
          </a:stretch>
        </p:blipFill>
        <p:spPr>
          <a:xfrm>
            <a:off x="548640" y="457200"/>
            <a:ext cx="566928" cy="566928"/>
          </a:xfrm>
          <a:prstGeom prst="rect">
            <a:avLst/>
          </a:prstGeom>
        </p:spPr>
      </p:pic>
      <p:sp>
        <p:nvSpPr>
          <p:cNvPr id="3" name="Text 0"/>
          <p:cNvSpPr/>
          <p:nvPr/>
        </p:nvSpPr>
        <p:spPr>
          <a:xfrm>
            <a:off x="1225296" y="576072"/>
            <a:ext cx="4572000" cy="329184"/>
          </a:xfrm>
          <a:prstGeom prst="rect">
            <a:avLst/>
          </a:prstGeom>
          <a:noFill/>
          <a:ln/>
        </p:spPr>
        <p:txBody>
          <a:bodyPr wrap="square" lIns="0" tIns="0" rIns="0" bIns="0" rtlCol="0" anchor="ctr"/>
          <a:lstStyle/>
          <a:p>
            <a:pPr marL="0" indent="0">
              <a:buNone/>
            </a:pPr>
            <a:r>
              <a:rPr lang="en-US" sz="1150" b="1" kern="0" spc="220" dirty="0">
                <a:solidFill>
                  <a:srgbClr val="93A9C8"/>
                </a:solidFill>
                <a:latin typeface="Calibri" pitchFamily="34" charset="0"/>
                <a:ea typeface="Calibri" pitchFamily="34" charset="-122"/>
                <a:cs typeface="Calibri" pitchFamily="34" charset="-120"/>
              </a:rPr>
              <a:t>NORTH ALABAMA KOREAN SCHOOL</a:t>
            </a:r>
            <a:endParaRPr lang="en-US" sz="1150" dirty="0"/>
          </a:p>
        </p:txBody>
      </p:sp>
      <p:sp>
        <p:nvSpPr>
          <p:cNvPr id="4" name="Text 1"/>
          <p:cNvSpPr/>
          <p:nvPr/>
        </p:nvSpPr>
        <p:spPr>
          <a:xfrm>
            <a:off x="548640" y="1737360"/>
            <a:ext cx="6400800" cy="457200"/>
          </a:xfrm>
          <a:prstGeom prst="rect">
            <a:avLst/>
          </a:prstGeom>
          <a:noFill/>
          <a:ln/>
        </p:spPr>
        <p:txBody>
          <a:bodyPr wrap="square" lIns="0" tIns="0" rIns="0" bIns="0" rtlCol="0" anchor="ctr"/>
          <a:lstStyle/>
          <a:p>
            <a:pPr marL="0" indent="0">
              <a:buNone/>
            </a:pPr>
            <a:r>
              <a:rPr lang="en-US" sz="2000" b="1" dirty="0">
                <a:solidFill>
                  <a:srgbClr val="D8E864"/>
                </a:solidFill>
                <a:latin typeface="Calibri" pitchFamily="34" charset="0"/>
                <a:ea typeface="Calibri" pitchFamily="34" charset="-122"/>
                <a:cs typeface="Calibri" pitchFamily="34" charset="-120"/>
              </a:rPr>
              <a:t>한국어 실험실</a:t>
            </a:r>
            <a:endParaRPr lang="en-US" sz="2000" dirty="0"/>
          </a:p>
        </p:txBody>
      </p:sp>
      <p:sp>
        <p:nvSpPr>
          <p:cNvPr id="5" name="Text 2"/>
          <p:cNvSpPr/>
          <p:nvPr/>
        </p:nvSpPr>
        <p:spPr>
          <a:xfrm>
            <a:off x="548640" y="2194560"/>
            <a:ext cx="6949440" cy="1051560"/>
          </a:xfrm>
          <a:prstGeom prst="rect">
            <a:avLst/>
          </a:prstGeom>
          <a:noFill/>
          <a:ln/>
        </p:spPr>
        <p:txBody>
          <a:bodyPr wrap="square" lIns="0" tIns="0" rIns="0" bIns="0" rtlCol="0" anchor="ctr"/>
          <a:lstStyle/>
          <a:p>
            <a:pPr marL="0" indent="0">
              <a:buNone/>
            </a:pPr>
            <a:r>
              <a:rPr lang="en-US" sz="5800" b="1" dirty="0">
                <a:solidFill>
                  <a:srgbClr val="FFFFFF"/>
                </a:solidFill>
                <a:latin typeface="Calibri" pitchFamily="34" charset="0"/>
                <a:ea typeface="Calibri" pitchFamily="34" charset="-122"/>
                <a:cs typeface="Calibri" pitchFamily="34" charset="-120"/>
              </a:rPr>
              <a:t>Korean Lab</a:t>
            </a:r>
            <a:endParaRPr lang="en-US" sz="5800" dirty="0"/>
          </a:p>
        </p:txBody>
      </p:sp>
      <p:sp>
        <p:nvSpPr>
          <p:cNvPr id="6" name="Text 3"/>
          <p:cNvSpPr/>
          <p:nvPr/>
        </p:nvSpPr>
        <p:spPr>
          <a:xfrm>
            <a:off x="566928" y="3310128"/>
            <a:ext cx="6492240" cy="1005840"/>
          </a:xfrm>
          <a:prstGeom prst="rect">
            <a:avLst/>
          </a:prstGeom>
          <a:noFill/>
          <a:ln/>
        </p:spPr>
        <p:txBody>
          <a:bodyPr wrap="square" lIns="0" tIns="0" rIns="0" bIns="0" rtlCol="0" anchor="ctr"/>
          <a:lstStyle/>
          <a:p>
            <a:pPr marL="0" indent="0">
              <a:lnSpc>
                <a:spcPts val="2800"/>
              </a:lnSpc>
              <a:buNone/>
            </a:pPr>
            <a:r>
              <a:rPr lang="en-US" sz="1900" dirty="0">
                <a:solidFill>
                  <a:srgbClr val="CFDBEC"/>
                </a:solidFill>
                <a:latin typeface="Calibri" pitchFamily="34" charset="0"/>
                <a:ea typeface="Calibri" pitchFamily="34" charset="-122"/>
                <a:cs typeface="Calibri" pitchFamily="34" charset="-120"/>
              </a:rPr>
              <a:t>Learn Korean the way you learned your first language —</a:t>
            </a:r>
            <a:endParaRPr lang="en-US" sz="1900" dirty="0"/>
          </a:p>
          <a:p>
            <a:pPr marL="0" indent="0">
              <a:lnSpc>
                <a:spcPts val="2800"/>
              </a:lnSpc>
              <a:buNone/>
            </a:pPr>
            <a:r>
              <a:rPr lang="en-US" sz="1900" dirty="0">
                <a:solidFill>
                  <a:srgbClr val="CFDBEC"/>
                </a:solidFill>
                <a:latin typeface="Calibri" pitchFamily="34" charset="0"/>
                <a:ea typeface="Calibri" pitchFamily="34" charset="-122"/>
                <a:cs typeface="Calibri" pitchFamily="34" charset="-120"/>
              </a:rPr>
              <a:t>by looking at a picture and hearing the word.</a:t>
            </a:r>
            <a:endParaRPr lang="en-US" sz="1900" dirty="0"/>
          </a:p>
        </p:txBody>
      </p:sp>
      <p:sp>
        <p:nvSpPr>
          <p:cNvPr id="7" name="Shape 4"/>
          <p:cNvSpPr/>
          <p:nvPr/>
        </p:nvSpPr>
        <p:spPr>
          <a:xfrm>
            <a:off x="548640" y="4590288"/>
            <a:ext cx="4224528" cy="566928"/>
          </a:xfrm>
          <a:prstGeom prst="roundRect">
            <a:avLst>
              <a:gd name="adj" fmla="val 50000"/>
            </a:avLst>
          </a:prstGeom>
          <a:solidFill>
            <a:srgbClr val="D8E864"/>
          </a:solidFill>
          <a:ln w="12700">
            <a:solidFill>
              <a:srgbClr val="D8E864"/>
            </a:solidFill>
            <a:prstDash val="solid"/>
          </a:ln>
        </p:spPr>
        <p:txBody>
          <a:bodyPr/>
          <a:lstStyle/>
          <a:p>
            <a:endParaRPr lang="en-US"/>
          </a:p>
        </p:txBody>
      </p:sp>
      <p:sp>
        <p:nvSpPr>
          <p:cNvPr id="8" name="Text 5"/>
          <p:cNvSpPr/>
          <p:nvPr/>
        </p:nvSpPr>
        <p:spPr>
          <a:xfrm>
            <a:off x="548640" y="4590288"/>
            <a:ext cx="4224528" cy="566928"/>
          </a:xfrm>
          <a:prstGeom prst="rect">
            <a:avLst/>
          </a:prstGeom>
          <a:noFill/>
          <a:ln/>
        </p:spPr>
        <p:txBody>
          <a:bodyPr wrap="square" lIns="0" tIns="0" rIns="0" bIns="0" rtlCol="0" anchor="ctr"/>
          <a:lstStyle/>
          <a:p>
            <a:pPr marL="0" indent="0" algn="ctr">
              <a:buNone/>
            </a:pPr>
            <a:r>
              <a:rPr lang="en-US" sz="1500" b="1" dirty="0">
                <a:solidFill>
                  <a:srgbClr val="36420A"/>
                </a:solidFill>
                <a:latin typeface="Calibri" pitchFamily="34" charset="0"/>
                <a:ea typeface="Calibri" pitchFamily="34" charset="-122"/>
                <a:cs typeface="Calibri" pitchFamily="34" charset="-120"/>
              </a:rPr>
              <a:t>Free · No app store · Any phone</a:t>
            </a:r>
            <a:endParaRPr lang="en-US" sz="1500" dirty="0"/>
          </a:p>
        </p:txBody>
      </p:sp>
      <p:sp>
        <p:nvSpPr>
          <p:cNvPr id="9" name="Text 6"/>
          <p:cNvSpPr/>
          <p:nvPr/>
        </p:nvSpPr>
        <p:spPr>
          <a:xfrm>
            <a:off x="548640" y="5806440"/>
            <a:ext cx="6400800" cy="365760"/>
          </a:xfrm>
          <a:prstGeom prst="rect">
            <a:avLst/>
          </a:prstGeom>
          <a:noFill/>
          <a:ln/>
        </p:spPr>
        <p:txBody>
          <a:bodyPr wrap="square" lIns="0" tIns="0" rIns="0" bIns="0" rtlCol="0" anchor="ctr"/>
          <a:lstStyle/>
          <a:p>
            <a:pPr marL="0" indent="0">
              <a:buNone/>
            </a:pPr>
            <a:r>
              <a:rPr lang="en-US" sz="1500" dirty="0">
                <a:solidFill>
                  <a:srgbClr val="93A9C8"/>
                </a:solidFill>
                <a:latin typeface="Calibri" pitchFamily="34" charset="0"/>
                <a:ea typeface="Calibri" pitchFamily="34" charset="-122"/>
                <a:cs typeface="Calibri" pitchFamily="34" charset="-120"/>
              </a:rPr>
              <a:t>northalabamakoreanschool.org/learn-korean</a:t>
            </a:r>
            <a:endParaRPr lang="en-US" sz="1500" dirty="0"/>
          </a:p>
        </p:txBody>
      </p:sp>
      <p:pic>
        <p:nvPicPr>
          <p:cNvPr id="10" name="Image 1" descr="png/n-card-가족.png"/>
          <p:cNvPicPr>
            <a:picLocks noChangeAspect="1"/>
          </p:cNvPicPr>
          <p:nvPr/>
        </p:nvPicPr>
        <p:blipFill>
          <a:blip r:embed="rId4"/>
          <a:stretch>
            <a:fillRect/>
          </a:stretch>
        </p:blipFill>
        <p:spPr>
          <a:xfrm>
            <a:off x="7818120" y="1170432"/>
            <a:ext cx="2103120" cy="2103120"/>
          </a:xfrm>
          <a:prstGeom prst="rect">
            <a:avLst/>
          </a:prstGeom>
        </p:spPr>
      </p:pic>
      <p:pic>
        <p:nvPicPr>
          <p:cNvPr id="11" name="Image 2" descr="png/n-card-비.png"/>
          <p:cNvPicPr>
            <a:picLocks noChangeAspect="1"/>
          </p:cNvPicPr>
          <p:nvPr/>
        </p:nvPicPr>
        <p:blipFill>
          <a:blip r:embed="rId5"/>
          <a:stretch>
            <a:fillRect/>
          </a:stretch>
        </p:blipFill>
        <p:spPr>
          <a:xfrm>
            <a:off x="9528048" y="2212848"/>
            <a:ext cx="2103120" cy="2103120"/>
          </a:xfrm>
          <a:prstGeom prst="rect">
            <a:avLst/>
          </a:prstGeom>
        </p:spPr>
      </p:pic>
      <p:pic>
        <p:nvPicPr>
          <p:cNvPr id="12" name="Image 3" descr="png/n-card-사랑.png"/>
          <p:cNvPicPr>
            <a:picLocks noChangeAspect="1"/>
          </p:cNvPicPr>
          <p:nvPr/>
        </p:nvPicPr>
        <p:blipFill>
          <a:blip r:embed="rId6"/>
          <a:stretch>
            <a:fillRect/>
          </a:stretch>
        </p:blipFill>
        <p:spPr>
          <a:xfrm>
            <a:off x="7818120" y="3255264"/>
            <a:ext cx="2103120" cy="2103120"/>
          </a:xfrm>
          <a:prstGeom prst="rect">
            <a:avLst/>
          </a:prstGeom>
        </p:spPr>
      </p:pic>
      <p:pic>
        <p:nvPicPr>
          <p:cNvPr id="13" name="Image 4" descr="png/n-card-물.png"/>
          <p:cNvPicPr>
            <a:picLocks noChangeAspect="1"/>
          </p:cNvPicPr>
          <p:nvPr/>
        </p:nvPicPr>
        <p:blipFill>
          <a:blip r:embed="rId7"/>
          <a:stretch>
            <a:fillRect/>
          </a:stretch>
        </p:blipFill>
        <p:spPr>
          <a:xfrm>
            <a:off x="9528048" y="4297680"/>
            <a:ext cx="2103120" cy="21031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475488"/>
            <a:ext cx="8229600" cy="365760"/>
          </a:xfrm>
          <a:prstGeom prst="rect">
            <a:avLst/>
          </a:prstGeom>
          <a:noFill/>
          <a:ln/>
        </p:spPr>
        <p:txBody>
          <a:bodyPr wrap="square" lIns="0" tIns="0" rIns="0" bIns="0" rtlCol="0" anchor="ctr"/>
          <a:lstStyle/>
          <a:p>
            <a:pPr marL="0" indent="0">
              <a:buNone/>
            </a:pPr>
            <a:r>
              <a:rPr lang="en-US" sz="1400" b="1" kern="0" spc="120" dirty="0">
                <a:solidFill>
                  <a:srgbClr val="5F6D12"/>
                </a:solidFill>
                <a:latin typeface="Calibri" pitchFamily="34" charset="0"/>
                <a:ea typeface="Calibri" pitchFamily="34" charset="-122"/>
                <a:cs typeface="Calibri" pitchFamily="34" charset="-120"/>
              </a:rPr>
              <a:t>한 </a:t>
            </a:r>
            <a:r>
              <a:rPr lang="en-US" sz="1400" b="1" kern="0" spc="120" dirty="0" err="1">
                <a:solidFill>
                  <a:srgbClr val="5F6D12"/>
                </a:solidFill>
                <a:latin typeface="Calibri" pitchFamily="34" charset="0"/>
                <a:ea typeface="Calibri" pitchFamily="34" charset="-122"/>
                <a:cs typeface="Calibri" pitchFamily="34" charset="-120"/>
              </a:rPr>
              <a:t>장의</a:t>
            </a:r>
            <a:r>
              <a:rPr lang="en-US" sz="1400" b="1" kern="0" spc="120" dirty="0">
                <a:solidFill>
                  <a:srgbClr val="5F6D12"/>
                </a:solidFill>
                <a:latin typeface="Calibri" pitchFamily="34" charset="0"/>
                <a:ea typeface="Calibri" pitchFamily="34" charset="-122"/>
                <a:cs typeface="Calibri" pitchFamily="34" charset="-120"/>
              </a:rPr>
              <a:t> </a:t>
            </a:r>
            <a:r>
              <a:rPr lang="en-US" sz="1400" b="1" kern="0" spc="120" dirty="0" err="1">
                <a:solidFill>
                  <a:srgbClr val="5F6D12"/>
                </a:solidFill>
                <a:latin typeface="Calibri" pitchFamily="34" charset="0"/>
                <a:ea typeface="Calibri" pitchFamily="34" charset="-122"/>
                <a:cs typeface="Calibri" pitchFamily="34" charset="-120"/>
              </a:rPr>
              <a:t>카드</a:t>
            </a:r>
            <a:endParaRPr lang="en-US" sz="1400" dirty="0"/>
          </a:p>
        </p:txBody>
      </p:sp>
      <p:sp>
        <p:nvSpPr>
          <p:cNvPr id="3" name="Text 1"/>
          <p:cNvSpPr/>
          <p:nvPr/>
        </p:nvSpPr>
        <p:spPr>
          <a:xfrm>
            <a:off x="658368" y="859536"/>
            <a:ext cx="7680960" cy="658368"/>
          </a:xfrm>
          <a:prstGeom prst="rect">
            <a:avLst/>
          </a:prstGeom>
          <a:noFill/>
          <a:ln/>
        </p:spPr>
        <p:txBody>
          <a:bodyPr wrap="square" lIns="0" tIns="0" rIns="0" bIns="0" rtlCol="0" anchor="ctr"/>
          <a:lstStyle/>
          <a:p>
            <a:pPr marL="0" indent="0">
              <a:buNone/>
            </a:pPr>
            <a:r>
              <a:rPr lang="en-US" sz="4000" b="1" dirty="0">
                <a:solidFill>
                  <a:srgbClr val="1D1D1F"/>
                </a:solidFill>
                <a:latin typeface="Calibri" pitchFamily="34" charset="0"/>
                <a:ea typeface="Calibri" pitchFamily="34" charset="-122"/>
                <a:cs typeface="Calibri" pitchFamily="34" charset="-120"/>
              </a:rPr>
              <a:t>How a card works</a:t>
            </a:r>
            <a:endParaRPr lang="en-US" sz="4000" dirty="0"/>
          </a:p>
        </p:txBody>
      </p:sp>
      <p:pic>
        <p:nvPicPr>
          <p:cNvPr id="4" name="Image 0" descr="png/w-card-개.png"/>
          <p:cNvPicPr>
            <a:picLocks noChangeAspect="1"/>
          </p:cNvPicPr>
          <p:nvPr/>
        </p:nvPicPr>
        <p:blipFill>
          <a:blip r:embed="rId3"/>
          <a:stretch>
            <a:fillRect/>
          </a:stretch>
        </p:blipFill>
        <p:spPr>
          <a:xfrm>
            <a:off x="658368" y="1828800"/>
            <a:ext cx="3977640" cy="3977640"/>
          </a:xfrm>
          <a:prstGeom prst="rect">
            <a:avLst/>
          </a:prstGeom>
        </p:spPr>
      </p:pic>
      <p:sp>
        <p:nvSpPr>
          <p:cNvPr id="5" name="Shape 2"/>
          <p:cNvSpPr/>
          <p:nvPr/>
        </p:nvSpPr>
        <p:spPr>
          <a:xfrm>
            <a:off x="932688" y="4956048"/>
            <a:ext cx="1609344" cy="548640"/>
          </a:xfrm>
          <a:prstGeom prst="roundRect">
            <a:avLst>
              <a:gd name="adj" fmla="val 50000"/>
            </a:avLst>
          </a:prstGeom>
          <a:solidFill>
            <a:srgbClr val="FFFFFF"/>
          </a:solidFill>
          <a:ln w="12700">
            <a:solidFill>
              <a:srgbClr val="E3E3E6"/>
            </a:solidFill>
            <a:prstDash val="solid"/>
          </a:ln>
          <a:effectLst>
            <a:outerShdw blurRad="228600" dist="63500" dir="5400000" algn="bl" rotWithShape="0">
              <a:srgbClr val="16345C">
                <a:alpha val="16000"/>
              </a:srgbClr>
            </a:outerShdw>
          </a:effectLst>
        </p:spPr>
        <p:txBody>
          <a:bodyPr/>
          <a:lstStyle/>
          <a:p>
            <a:endParaRPr lang="en-US"/>
          </a:p>
        </p:txBody>
      </p:sp>
      <p:sp>
        <p:nvSpPr>
          <p:cNvPr id="6" name="Text 3"/>
          <p:cNvSpPr/>
          <p:nvPr/>
        </p:nvSpPr>
        <p:spPr>
          <a:xfrm>
            <a:off x="932688" y="4956048"/>
            <a:ext cx="1609344" cy="548640"/>
          </a:xfrm>
          <a:prstGeom prst="rect">
            <a:avLst/>
          </a:prstGeom>
          <a:noFill/>
          <a:ln/>
        </p:spPr>
        <p:txBody>
          <a:bodyPr wrap="square" lIns="0" tIns="0" rIns="0" bIns="0" rtlCol="0" anchor="ctr"/>
          <a:lstStyle/>
          <a:p>
            <a:pPr marL="0" indent="0" algn="ctr">
              <a:buNone/>
            </a:pPr>
            <a:r>
              <a:rPr lang="en-US" sz="1900" b="1" dirty="0">
                <a:solidFill>
                  <a:srgbClr val="1D1D1F"/>
                </a:solidFill>
                <a:latin typeface="Calibri" pitchFamily="34" charset="0"/>
                <a:ea typeface="Calibri" pitchFamily="34" charset="-122"/>
                <a:cs typeface="Calibri" pitchFamily="34" charset="-120"/>
              </a:rPr>
              <a:t>개  </a:t>
            </a:r>
            <a:r>
              <a:rPr lang="en-US" sz="1500" dirty="0">
                <a:solidFill>
                  <a:srgbClr val="6E6E73"/>
                </a:solidFill>
                <a:latin typeface="Calibri" pitchFamily="34" charset="0"/>
                <a:ea typeface="Calibri" pitchFamily="34" charset="-122"/>
                <a:cs typeface="Calibri" pitchFamily="34" charset="-120"/>
              </a:rPr>
              <a:t>dog</a:t>
            </a:r>
            <a:endParaRPr lang="en-US" sz="1900" dirty="0"/>
          </a:p>
        </p:txBody>
      </p:sp>
      <p:sp>
        <p:nvSpPr>
          <p:cNvPr id="7" name="Shape 4"/>
          <p:cNvSpPr/>
          <p:nvPr/>
        </p:nvSpPr>
        <p:spPr>
          <a:xfrm>
            <a:off x="5230368" y="1975104"/>
            <a:ext cx="457200" cy="457200"/>
          </a:xfrm>
          <a:prstGeom prst="ellipse">
            <a:avLst/>
          </a:prstGeom>
          <a:solidFill>
            <a:srgbClr val="D8E864"/>
          </a:solidFill>
          <a:ln/>
        </p:spPr>
        <p:txBody>
          <a:bodyPr/>
          <a:lstStyle/>
          <a:p>
            <a:endParaRPr lang="en-US"/>
          </a:p>
        </p:txBody>
      </p:sp>
      <p:sp>
        <p:nvSpPr>
          <p:cNvPr id="8" name="Text 5"/>
          <p:cNvSpPr/>
          <p:nvPr/>
        </p:nvSpPr>
        <p:spPr>
          <a:xfrm>
            <a:off x="5230368" y="1975104"/>
            <a:ext cx="457200" cy="457200"/>
          </a:xfrm>
          <a:prstGeom prst="rect">
            <a:avLst/>
          </a:prstGeom>
          <a:noFill/>
          <a:ln/>
        </p:spPr>
        <p:txBody>
          <a:bodyPr wrap="square" lIns="0" tIns="0" rIns="0" bIns="0" rtlCol="0" anchor="ctr"/>
          <a:lstStyle/>
          <a:p>
            <a:pPr marL="0" indent="0" algn="ctr">
              <a:buNone/>
            </a:pPr>
            <a:r>
              <a:rPr lang="en-US" sz="1700" b="1" dirty="0">
                <a:solidFill>
                  <a:srgbClr val="36420A"/>
                </a:solidFill>
                <a:latin typeface="Calibri" pitchFamily="34" charset="0"/>
                <a:ea typeface="Calibri" pitchFamily="34" charset="-122"/>
                <a:cs typeface="Calibri" pitchFamily="34" charset="-120"/>
              </a:rPr>
              <a:t>1</a:t>
            </a:r>
            <a:endParaRPr lang="en-US" sz="1700" dirty="0"/>
          </a:p>
        </p:txBody>
      </p:sp>
      <p:sp>
        <p:nvSpPr>
          <p:cNvPr id="9" name="Text 6"/>
          <p:cNvSpPr/>
          <p:nvPr/>
        </p:nvSpPr>
        <p:spPr>
          <a:xfrm>
            <a:off x="5907024" y="1938528"/>
            <a:ext cx="5614416" cy="384048"/>
          </a:xfrm>
          <a:prstGeom prst="rect">
            <a:avLst/>
          </a:prstGeom>
          <a:noFill/>
          <a:ln/>
        </p:spPr>
        <p:txBody>
          <a:bodyPr wrap="square" lIns="0" tIns="0" rIns="0" bIns="0" rtlCol="0" anchor="ctr"/>
          <a:lstStyle/>
          <a:p>
            <a:pPr marL="0" indent="0">
              <a:buNone/>
            </a:pPr>
            <a:r>
              <a:rPr lang="en-US" sz="2000" b="1" dirty="0">
                <a:solidFill>
                  <a:srgbClr val="1D1D1F"/>
                </a:solidFill>
                <a:latin typeface="Calibri" pitchFamily="34" charset="0"/>
                <a:ea typeface="Calibri" pitchFamily="34" charset="-122"/>
                <a:cs typeface="Calibri" pitchFamily="34" charset="-120"/>
              </a:rPr>
              <a:t>One picture. One word.</a:t>
            </a:r>
            <a:endParaRPr lang="en-US" sz="2000" dirty="0"/>
          </a:p>
        </p:txBody>
      </p:sp>
      <p:sp>
        <p:nvSpPr>
          <p:cNvPr id="10" name="Text 7"/>
          <p:cNvSpPr/>
          <p:nvPr/>
        </p:nvSpPr>
        <p:spPr>
          <a:xfrm>
            <a:off x="5907024" y="2359152"/>
            <a:ext cx="5614416" cy="841248"/>
          </a:xfrm>
          <a:prstGeom prst="rect">
            <a:avLst/>
          </a:prstGeom>
          <a:noFill/>
          <a:ln/>
        </p:spPr>
        <p:txBody>
          <a:bodyPr wrap="square" lIns="0" tIns="0" rIns="0" bIns="0" rtlCol="0" anchor="ctr"/>
          <a:lstStyle/>
          <a:p>
            <a:pPr marL="0" indent="0">
              <a:lnSpc>
                <a:spcPts val="2100"/>
              </a:lnSpc>
              <a:buNone/>
            </a:pPr>
            <a:r>
              <a:rPr lang="en-US" sz="1450" dirty="0">
                <a:solidFill>
                  <a:srgbClr val="6E6E73"/>
                </a:solidFill>
                <a:latin typeface="Calibri" pitchFamily="34" charset="0"/>
                <a:ea typeface="Calibri" pitchFamily="34" charset="-122"/>
                <a:cs typeface="Calibri" pitchFamily="34" charset="-120"/>
              </a:rPr>
              <a:t>You see the picture and hear a native speaker say the word. English is there if you want it, and it hides with one tap.</a:t>
            </a:r>
            <a:endParaRPr lang="en-US" sz="1450" dirty="0"/>
          </a:p>
        </p:txBody>
      </p:sp>
      <p:sp>
        <p:nvSpPr>
          <p:cNvPr id="11" name="Shape 8"/>
          <p:cNvSpPr/>
          <p:nvPr/>
        </p:nvSpPr>
        <p:spPr>
          <a:xfrm>
            <a:off x="5230368" y="3364992"/>
            <a:ext cx="457200" cy="457200"/>
          </a:xfrm>
          <a:prstGeom prst="ellipse">
            <a:avLst/>
          </a:prstGeom>
          <a:solidFill>
            <a:srgbClr val="D8E864"/>
          </a:solidFill>
          <a:ln/>
        </p:spPr>
        <p:txBody>
          <a:bodyPr/>
          <a:lstStyle/>
          <a:p>
            <a:endParaRPr lang="en-US"/>
          </a:p>
        </p:txBody>
      </p:sp>
      <p:sp>
        <p:nvSpPr>
          <p:cNvPr id="12" name="Text 9"/>
          <p:cNvSpPr/>
          <p:nvPr/>
        </p:nvSpPr>
        <p:spPr>
          <a:xfrm>
            <a:off x="5230368" y="3364992"/>
            <a:ext cx="457200" cy="457200"/>
          </a:xfrm>
          <a:prstGeom prst="rect">
            <a:avLst/>
          </a:prstGeom>
          <a:noFill/>
          <a:ln/>
        </p:spPr>
        <p:txBody>
          <a:bodyPr wrap="square" lIns="0" tIns="0" rIns="0" bIns="0" rtlCol="0" anchor="ctr"/>
          <a:lstStyle/>
          <a:p>
            <a:pPr marL="0" indent="0" algn="ctr">
              <a:buNone/>
            </a:pPr>
            <a:r>
              <a:rPr lang="en-US" sz="1700" b="1" dirty="0">
                <a:solidFill>
                  <a:srgbClr val="36420A"/>
                </a:solidFill>
                <a:latin typeface="Calibri" pitchFamily="34" charset="0"/>
                <a:ea typeface="Calibri" pitchFamily="34" charset="-122"/>
                <a:cs typeface="Calibri" pitchFamily="34" charset="-120"/>
              </a:rPr>
              <a:t>2</a:t>
            </a:r>
            <a:endParaRPr lang="en-US" sz="1700" dirty="0"/>
          </a:p>
        </p:txBody>
      </p:sp>
      <p:sp>
        <p:nvSpPr>
          <p:cNvPr id="13" name="Text 10"/>
          <p:cNvSpPr/>
          <p:nvPr/>
        </p:nvSpPr>
        <p:spPr>
          <a:xfrm>
            <a:off x="5907024" y="3328416"/>
            <a:ext cx="5614416" cy="384048"/>
          </a:xfrm>
          <a:prstGeom prst="rect">
            <a:avLst/>
          </a:prstGeom>
          <a:noFill/>
          <a:ln/>
        </p:spPr>
        <p:txBody>
          <a:bodyPr wrap="square" lIns="0" tIns="0" rIns="0" bIns="0" rtlCol="0" anchor="ctr"/>
          <a:lstStyle/>
          <a:p>
            <a:pPr marL="0" indent="0">
              <a:buNone/>
            </a:pPr>
            <a:r>
              <a:rPr lang="en-US" sz="2000" b="1" dirty="0">
                <a:solidFill>
                  <a:srgbClr val="1D1D1F"/>
                </a:solidFill>
                <a:latin typeface="Calibri" pitchFamily="34" charset="0"/>
                <a:ea typeface="Calibri" pitchFamily="34" charset="-122"/>
                <a:cs typeface="Calibri" pitchFamily="34" charset="-120"/>
              </a:rPr>
              <a:t>Tap the picture — a different voice answers.</a:t>
            </a:r>
            <a:endParaRPr lang="en-US" sz="2000" dirty="0"/>
          </a:p>
        </p:txBody>
      </p:sp>
      <p:sp>
        <p:nvSpPr>
          <p:cNvPr id="14" name="Text 11"/>
          <p:cNvSpPr/>
          <p:nvPr/>
        </p:nvSpPr>
        <p:spPr>
          <a:xfrm>
            <a:off x="5907024" y="3749040"/>
            <a:ext cx="5614416" cy="841248"/>
          </a:xfrm>
          <a:prstGeom prst="rect">
            <a:avLst/>
          </a:prstGeom>
          <a:noFill/>
          <a:ln/>
        </p:spPr>
        <p:txBody>
          <a:bodyPr wrap="square" lIns="0" tIns="0" rIns="0" bIns="0" rtlCol="0" anchor="ctr"/>
          <a:lstStyle/>
          <a:p>
            <a:pPr marL="0" indent="0">
              <a:lnSpc>
                <a:spcPts val="2100"/>
              </a:lnSpc>
              <a:buNone/>
            </a:pPr>
            <a:r>
              <a:rPr lang="en-US" sz="1450" dirty="0">
                <a:solidFill>
                  <a:srgbClr val="6E6E73"/>
                </a:solidFill>
                <a:latin typeface="Calibri" pitchFamily="34" charset="0"/>
                <a:ea typeface="Calibri" pitchFamily="34" charset="-122"/>
                <a:cs typeface="Calibri" pitchFamily="34" charset="-120"/>
              </a:rPr>
              <a:t>Four native speakers share every word, so you learn the sound itself and not one person's version of it.</a:t>
            </a:r>
            <a:endParaRPr lang="en-US" sz="1450" dirty="0"/>
          </a:p>
        </p:txBody>
      </p:sp>
      <p:sp>
        <p:nvSpPr>
          <p:cNvPr id="15" name="Shape 12"/>
          <p:cNvSpPr/>
          <p:nvPr/>
        </p:nvSpPr>
        <p:spPr>
          <a:xfrm>
            <a:off x="5230368" y="4754880"/>
            <a:ext cx="457200" cy="457200"/>
          </a:xfrm>
          <a:prstGeom prst="ellipse">
            <a:avLst/>
          </a:prstGeom>
          <a:solidFill>
            <a:srgbClr val="D8E864"/>
          </a:solidFill>
          <a:ln/>
        </p:spPr>
        <p:txBody>
          <a:bodyPr/>
          <a:lstStyle/>
          <a:p>
            <a:endParaRPr lang="en-US"/>
          </a:p>
        </p:txBody>
      </p:sp>
      <p:sp>
        <p:nvSpPr>
          <p:cNvPr id="16" name="Text 13"/>
          <p:cNvSpPr/>
          <p:nvPr/>
        </p:nvSpPr>
        <p:spPr>
          <a:xfrm>
            <a:off x="5230368" y="4754880"/>
            <a:ext cx="457200" cy="457200"/>
          </a:xfrm>
          <a:prstGeom prst="rect">
            <a:avLst/>
          </a:prstGeom>
          <a:noFill/>
          <a:ln/>
        </p:spPr>
        <p:txBody>
          <a:bodyPr wrap="square" lIns="0" tIns="0" rIns="0" bIns="0" rtlCol="0" anchor="ctr"/>
          <a:lstStyle/>
          <a:p>
            <a:pPr marL="0" indent="0" algn="ctr">
              <a:buNone/>
            </a:pPr>
            <a:r>
              <a:rPr lang="en-US" sz="1700" b="1" dirty="0">
                <a:solidFill>
                  <a:srgbClr val="36420A"/>
                </a:solidFill>
                <a:latin typeface="Calibri" pitchFamily="34" charset="0"/>
                <a:ea typeface="Calibri" pitchFamily="34" charset="-122"/>
                <a:cs typeface="Calibri" pitchFamily="34" charset="-120"/>
              </a:rPr>
              <a:t>3</a:t>
            </a:r>
            <a:endParaRPr lang="en-US" sz="1700" dirty="0"/>
          </a:p>
        </p:txBody>
      </p:sp>
      <p:sp>
        <p:nvSpPr>
          <p:cNvPr id="17" name="Text 14"/>
          <p:cNvSpPr/>
          <p:nvPr/>
        </p:nvSpPr>
        <p:spPr>
          <a:xfrm>
            <a:off x="5907024" y="4718304"/>
            <a:ext cx="5614416" cy="384048"/>
          </a:xfrm>
          <a:prstGeom prst="rect">
            <a:avLst/>
          </a:prstGeom>
          <a:noFill/>
          <a:ln/>
        </p:spPr>
        <p:txBody>
          <a:bodyPr wrap="square" lIns="0" tIns="0" rIns="0" bIns="0" rtlCol="0" anchor="ctr"/>
          <a:lstStyle/>
          <a:p>
            <a:pPr marL="0" indent="0">
              <a:buNone/>
            </a:pPr>
            <a:r>
              <a:rPr lang="en-US" sz="2000" b="1" dirty="0">
                <a:solidFill>
                  <a:srgbClr val="1D1D1F"/>
                </a:solidFill>
                <a:latin typeface="Calibri" pitchFamily="34" charset="0"/>
                <a:ea typeface="Calibri" pitchFamily="34" charset="-122"/>
                <a:cs typeface="Calibri" pitchFamily="34" charset="-120"/>
              </a:rPr>
              <a:t>“I know this” — and it leaves the stack.</a:t>
            </a:r>
            <a:endParaRPr lang="en-US" sz="2000" dirty="0"/>
          </a:p>
        </p:txBody>
      </p:sp>
      <p:sp>
        <p:nvSpPr>
          <p:cNvPr id="18" name="Text 15"/>
          <p:cNvSpPr/>
          <p:nvPr/>
        </p:nvSpPr>
        <p:spPr>
          <a:xfrm>
            <a:off x="5907024" y="5138928"/>
            <a:ext cx="5614416" cy="841248"/>
          </a:xfrm>
          <a:prstGeom prst="rect">
            <a:avLst/>
          </a:prstGeom>
          <a:noFill/>
          <a:ln/>
        </p:spPr>
        <p:txBody>
          <a:bodyPr wrap="square" lIns="0" tIns="0" rIns="0" bIns="0" rtlCol="0" anchor="ctr"/>
          <a:lstStyle/>
          <a:p>
            <a:pPr marL="0" indent="0">
              <a:lnSpc>
                <a:spcPts val="2100"/>
              </a:lnSpc>
              <a:buNone/>
            </a:pPr>
            <a:r>
              <a:rPr lang="en-US" sz="1450" dirty="0">
                <a:solidFill>
                  <a:srgbClr val="6E6E73"/>
                </a:solidFill>
                <a:latin typeface="Calibri" pitchFamily="34" charset="0"/>
                <a:ea typeface="Calibri" pitchFamily="34" charset="-122"/>
                <a:cs typeface="Calibri" pitchFamily="34" charset="-120"/>
              </a:rPr>
              <a:t>The deck shrinks as you go. There is no pile of overdue cards waiting to make you feel behind.</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475488"/>
            <a:ext cx="8229600" cy="365760"/>
          </a:xfrm>
          <a:prstGeom prst="rect">
            <a:avLst/>
          </a:prstGeom>
          <a:noFill/>
          <a:ln/>
        </p:spPr>
        <p:txBody>
          <a:bodyPr wrap="square" lIns="0" tIns="0" rIns="0" bIns="0" rtlCol="0" anchor="ctr"/>
          <a:lstStyle/>
          <a:p>
            <a:pPr marL="0" indent="0">
              <a:buNone/>
            </a:pPr>
            <a:r>
              <a:rPr lang="en-US" sz="1400" b="1" kern="0" spc="120" dirty="0">
                <a:solidFill>
                  <a:srgbClr val="5F6D12"/>
                </a:solidFill>
                <a:latin typeface="Calibri" pitchFamily="34" charset="0"/>
                <a:ea typeface="Calibri" pitchFamily="34" charset="-122"/>
                <a:cs typeface="Calibri" pitchFamily="34" charset="-120"/>
              </a:rPr>
              <a:t>왜 다른가 · Why it's different</a:t>
            </a:r>
            <a:endParaRPr lang="en-US" sz="1400" dirty="0"/>
          </a:p>
        </p:txBody>
      </p:sp>
      <p:sp>
        <p:nvSpPr>
          <p:cNvPr id="3" name="Text 1"/>
          <p:cNvSpPr/>
          <p:nvPr/>
        </p:nvSpPr>
        <p:spPr>
          <a:xfrm>
            <a:off x="658368" y="859536"/>
            <a:ext cx="10881360" cy="1188720"/>
          </a:xfrm>
          <a:prstGeom prst="rect">
            <a:avLst/>
          </a:prstGeom>
          <a:noFill/>
          <a:ln/>
        </p:spPr>
        <p:txBody>
          <a:bodyPr wrap="square" lIns="0" tIns="0" rIns="0" bIns="0" rtlCol="0" anchor="ctr"/>
          <a:lstStyle/>
          <a:p>
            <a:pPr marL="0" indent="0">
              <a:lnSpc>
                <a:spcPts val="4200"/>
              </a:lnSpc>
              <a:buNone/>
            </a:pPr>
            <a:r>
              <a:rPr lang="en-US" sz="3400" b="1" dirty="0">
                <a:solidFill>
                  <a:srgbClr val="1D1D1F"/>
                </a:solidFill>
                <a:latin typeface="Calibri" pitchFamily="34" charset="0"/>
                <a:ea typeface="Calibri" pitchFamily="34" charset="-122"/>
                <a:cs typeface="Calibri" pitchFamily="34" charset="-120"/>
              </a:rPr>
              <a:t>It teaches the words most commonly used—</a:t>
            </a:r>
            <a:endParaRPr lang="en-US" sz="3400" dirty="0"/>
          </a:p>
          <a:p>
            <a:pPr marL="0" indent="0">
              <a:lnSpc>
                <a:spcPts val="4200"/>
              </a:lnSpc>
              <a:buNone/>
            </a:pPr>
            <a:r>
              <a:rPr lang="en-US" sz="3400" b="1" dirty="0">
                <a:solidFill>
                  <a:srgbClr val="1D1D1F"/>
                </a:solidFill>
                <a:latin typeface="Calibri" pitchFamily="34" charset="0"/>
                <a:ea typeface="Calibri" pitchFamily="34" charset="-122"/>
                <a:cs typeface="Calibri" pitchFamily="34" charset="-120"/>
              </a:rPr>
              <a:t>in the order that “pays-off” fastest.</a:t>
            </a:r>
            <a:endParaRPr lang="en-US" sz="3400" dirty="0"/>
          </a:p>
        </p:txBody>
      </p:sp>
      <p:sp>
        <p:nvSpPr>
          <p:cNvPr id="4" name="Shape 2"/>
          <p:cNvSpPr/>
          <p:nvPr/>
        </p:nvSpPr>
        <p:spPr>
          <a:xfrm>
            <a:off x="658368" y="2542032"/>
            <a:ext cx="2852928" cy="2395728"/>
          </a:xfrm>
          <a:prstGeom prst="roundRect">
            <a:avLst>
              <a:gd name="adj" fmla="val 6870"/>
            </a:avLst>
          </a:prstGeom>
          <a:solidFill>
            <a:srgbClr val="F5F8DD"/>
          </a:solidFill>
          <a:ln w="12700">
            <a:solidFill>
              <a:srgbClr val="F5F8DD"/>
            </a:solidFill>
            <a:prstDash val="solid"/>
          </a:ln>
        </p:spPr>
        <p:txBody>
          <a:bodyPr/>
          <a:lstStyle/>
          <a:p>
            <a:endParaRPr lang="en-US"/>
          </a:p>
        </p:txBody>
      </p:sp>
      <p:sp>
        <p:nvSpPr>
          <p:cNvPr id="5" name="Text 3"/>
          <p:cNvSpPr/>
          <p:nvPr/>
        </p:nvSpPr>
        <p:spPr>
          <a:xfrm>
            <a:off x="658368" y="2761488"/>
            <a:ext cx="2852928" cy="1005840"/>
          </a:xfrm>
          <a:prstGeom prst="rect">
            <a:avLst/>
          </a:prstGeom>
          <a:noFill/>
          <a:ln/>
        </p:spPr>
        <p:txBody>
          <a:bodyPr wrap="square" lIns="0" tIns="0" rIns="0" bIns="0" rtlCol="0" anchor="ctr"/>
          <a:lstStyle/>
          <a:p>
            <a:pPr marL="0" indent="0" algn="ctr">
              <a:buNone/>
            </a:pPr>
            <a:r>
              <a:rPr lang="en-US" sz="6600" b="1" dirty="0">
                <a:solidFill>
                  <a:srgbClr val="36420A"/>
                </a:solidFill>
                <a:latin typeface="Calibri" pitchFamily="34" charset="0"/>
                <a:ea typeface="Calibri" pitchFamily="34" charset="-122"/>
                <a:cs typeface="Calibri" pitchFamily="34" charset="-120"/>
              </a:rPr>
              <a:t>295</a:t>
            </a:r>
            <a:endParaRPr lang="en-US" sz="6600" dirty="0"/>
          </a:p>
        </p:txBody>
      </p:sp>
      <p:sp>
        <p:nvSpPr>
          <p:cNvPr id="6" name="Text 4"/>
          <p:cNvSpPr/>
          <p:nvPr/>
        </p:nvSpPr>
        <p:spPr>
          <a:xfrm>
            <a:off x="896112" y="3840480"/>
            <a:ext cx="2377440" cy="841248"/>
          </a:xfrm>
          <a:prstGeom prst="rect">
            <a:avLst/>
          </a:prstGeom>
          <a:noFill/>
          <a:ln/>
        </p:spPr>
        <p:txBody>
          <a:bodyPr wrap="square" lIns="0" tIns="0" rIns="0" bIns="0" rtlCol="0" anchor="ctr"/>
          <a:lstStyle/>
          <a:p>
            <a:pPr marL="0" indent="0" algn="ctr">
              <a:lnSpc>
                <a:spcPts val="1900"/>
              </a:lnSpc>
              <a:buNone/>
            </a:pPr>
            <a:r>
              <a:rPr lang="en-US" sz="1350" dirty="0">
                <a:solidFill>
                  <a:srgbClr val="5F6D12"/>
                </a:solidFill>
                <a:latin typeface="Calibri" pitchFamily="34" charset="0"/>
                <a:ea typeface="Calibri" pitchFamily="34" charset="-122"/>
                <a:cs typeface="Calibri" pitchFamily="34" charset="-120"/>
              </a:rPr>
              <a:t>picture cards, </a:t>
            </a:r>
          </a:p>
          <a:p>
            <a:pPr marL="0" indent="0" algn="ctr">
              <a:lnSpc>
                <a:spcPts val="1900"/>
              </a:lnSpc>
              <a:buNone/>
            </a:pPr>
            <a:r>
              <a:rPr lang="en-US" sz="1350" dirty="0">
                <a:solidFill>
                  <a:srgbClr val="5F6D12"/>
                </a:solidFill>
                <a:latin typeface="Calibri" pitchFamily="34" charset="0"/>
                <a:ea typeface="Calibri" pitchFamily="34" charset="-122"/>
                <a:cs typeface="Calibri" pitchFamily="34" charset="-120"/>
              </a:rPr>
              <a:t>built for this school</a:t>
            </a:r>
            <a:endParaRPr lang="en-US" sz="1350" dirty="0"/>
          </a:p>
        </p:txBody>
      </p:sp>
      <p:sp>
        <p:nvSpPr>
          <p:cNvPr id="7" name="Shape 5"/>
          <p:cNvSpPr/>
          <p:nvPr/>
        </p:nvSpPr>
        <p:spPr>
          <a:xfrm>
            <a:off x="3785616" y="2542032"/>
            <a:ext cx="2852928" cy="2395728"/>
          </a:xfrm>
          <a:prstGeom prst="roundRect">
            <a:avLst>
              <a:gd name="adj" fmla="val 6870"/>
            </a:avLst>
          </a:prstGeom>
          <a:solidFill>
            <a:srgbClr val="F5F8DD"/>
          </a:solidFill>
          <a:ln w="12700">
            <a:solidFill>
              <a:srgbClr val="F5F8DD"/>
            </a:solidFill>
            <a:prstDash val="solid"/>
          </a:ln>
        </p:spPr>
        <p:txBody>
          <a:bodyPr/>
          <a:lstStyle/>
          <a:p>
            <a:endParaRPr lang="en-US"/>
          </a:p>
        </p:txBody>
      </p:sp>
      <p:sp>
        <p:nvSpPr>
          <p:cNvPr id="8" name="Text 6"/>
          <p:cNvSpPr/>
          <p:nvPr/>
        </p:nvSpPr>
        <p:spPr>
          <a:xfrm>
            <a:off x="3785616" y="2761488"/>
            <a:ext cx="2852928" cy="1005840"/>
          </a:xfrm>
          <a:prstGeom prst="rect">
            <a:avLst/>
          </a:prstGeom>
          <a:noFill/>
          <a:ln/>
        </p:spPr>
        <p:txBody>
          <a:bodyPr wrap="square" lIns="0" tIns="0" rIns="0" bIns="0" rtlCol="0" anchor="ctr"/>
          <a:lstStyle/>
          <a:p>
            <a:pPr marL="0" indent="0" algn="ctr">
              <a:buNone/>
            </a:pPr>
            <a:r>
              <a:rPr lang="en-US" sz="6600" b="1" dirty="0">
                <a:solidFill>
                  <a:srgbClr val="36420A"/>
                </a:solidFill>
                <a:latin typeface="Calibri" pitchFamily="34" charset="0"/>
                <a:ea typeface="Calibri" pitchFamily="34" charset="-122"/>
                <a:cs typeface="Calibri" pitchFamily="34" charset="-120"/>
              </a:rPr>
              <a:t>37%</a:t>
            </a:r>
            <a:endParaRPr lang="en-US" sz="6600" dirty="0"/>
          </a:p>
        </p:txBody>
      </p:sp>
      <p:sp>
        <p:nvSpPr>
          <p:cNvPr id="9" name="Text 7"/>
          <p:cNvSpPr/>
          <p:nvPr/>
        </p:nvSpPr>
        <p:spPr>
          <a:xfrm>
            <a:off x="4023360" y="3840480"/>
            <a:ext cx="2377440" cy="841248"/>
          </a:xfrm>
          <a:prstGeom prst="rect">
            <a:avLst/>
          </a:prstGeom>
          <a:noFill/>
          <a:ln/>
        </p:spPr>
        <p:txBody>
          <a:bodyPr wrap="square" lIns="0" tIns="0" rIns="0" bIns="0" rtlCol="0" anchor="ctr"/>
          <a:lstStyle/>
          <a:p>
            <a:pPr marL="0" indent="0" algn="ctr">
              <a:lnSpc>
                <a:spcPts val="1900"/>
              </a:lnSpc>
              <a:buNone/>
            </a:pPr>
            <a:r>
              <a:rPr lang="en-US" sz="1350" dirty="0">
                <a:solidFill>
                  <a:srgbClr val="5F6D12"/>
                </a:solidFill>
                <a:latin typeface="Calibri" pitchFamily="34" charset="0"/>
                <a:ea typeface="Calibri" pitchFamily="34" charset="-122"/>
                <a:cs typeface="Calibri" pitchFamily="34" charset="-120"/>
              </a:rPr>
              <a:t>of everything said in</a:t>
            </a:r>
            <a:endParaRPr lang="en-US" sz="1350" dirty="0"/>
          </a:p>
          <a:p>
            <a:pPr marL="0" indent="0" algn="ctr">
              <a:lnSpc>
                <a:spcPts val="1900"/>
              </a:lnSpc>
              <a:buNone/>
            </a:pPr>
            <a:r>
              <a:rPr lang="en-US" sz="1350" dirty="0">
                <a:solidFill>
                  <a:srgbClr val="5F6D12"/>
                </a:solidFill>
                <a:latin typeface="Calibri" pitchFamily="34" charset="0"/>
                <a:ea typeface="Calibri" pitchFamily="34" charset="-122"/>
                <a:cs typeface="Calibri" pitchFamily="34" charset="-120"/>
              </a:rPr>
              <a:t>everyday spoken Korean</a:t>
            </a:r>
            <a:endParaRPr lang="en-US" sz="1350" dirty="0"/>
          </a:p>
        </p:txBody>
      </p:sp>
      <p:sp>
        <p:nvSpPr>
          <p:cNvPr id="10" name="Text 8"/>
          <p:cNvSpPr/>
          <p:nvPr/>
        </p:nvSpPr>
        <p:spPr>
          <a:xfrm>
            <a:off x="7004304" y="2542032"/>
            <a:ext cx="4498848" cy="329184"/>
          </a:xfrm>
          <a:prstGeom prst="rect">
            <a:avLst/>
          </a:prstGeom>
          <a:noFill/>
          <a:ln/>
        </p:spPr>
        <p:txBody>
          <a:bodyPr wrap="square" lIns="0" tIns="0" rIns="0" bIns="0" rtlCol="0" anchor="ctr"/>
          <a:lstStyle/>
          <a:p>
            <a:pPr marL="0" indent="0">
              <a:buNone/>
            </a:pPr>
            <a:r>
              <a:rPr lang="en-US" sz="1800" b="1" dirty="0">
                <a:solidFill>
                  <a:srgbClr val="16345C"/>
                </a:solidFill>
                <a:latin typeface="Calibri" pitchFamily="34" charset="0"/>
                <a:ea typeface="Calibri" pitchFamily="34" charset="-122"/>
                <a:cs typeface="Calibri" pitchFamily="34" charset="-120"/>
              </a:rPr>
              <a:t>Most-used first.</a:t>
            </a:r>
            <a:endParaRPr lang="en-US" sz="1800" dirty="0"/>
          </a:p>
        </p:txBody>
      </p:sp>
      <p:sp>
        <p:nvSpPr>
          <p:cNvPr id="11" name="Text 9"/>
          <p:cNvSpPr/>
          <p:nvPr/>
        </p:nvSpPr>
        <p:spPr>
          <a:xfrm>
            <a:off x="7004304" y="2889504"/>
            <a:ext cx="4498848" cy="969264"/>
          </a:xfrm>
          <a:prstGeom prst="rect">
            <a:avLst/>
          </a:prstGeom>
          <a:noFill/>
          <a:ln/>
        </p:spPr>
        <p:txBody>
          <a:bodyPr wrap="square" lIns="0" tIns="0" rIns="0" bIns="0" rtlCol="0" anchor="ctr"/>
          <a:lstStyle/>
          <a:p>
            <a:pPr marL="0" indent="0">
              <a:lnSpc>
                <a:spcPts val="1900"/>
              </a:lnSpc>
              <a:buNone/>
            </a:pPr>
            <a:r>
              <a:rPr lang="en-US" sz="1350" dirty="0">
                <a:solidFill>
                  <a:srgbClr val="6E6E73"/>
                </a:solidFill>
                <a:latin typeface="Calibri" pitchFamily="34" charset="0"/>
                <a:ea typeface="Calibri" pitchFamily="34" charset="-122"/>
                <a:cs typeface="Calibri" pitchFamily="34" charset="-120"/>
              </a:rPr>
              <a:t>The 1,500 most common spoken words were ranked, and the picturable ones were put in frequency order. </a:t>
            </a:r>
            <a:endParaRPr lang="en-US" sz="1350" dirty="0"/>
          </a:p>
        </p:txBody>
      </p:sp>
      <p:sp>
        <p:nvSpPr>
          <p:cNvPr id="12" name="Text 10"/>
          <p:cNvSpPr/>
          <p:nvPr/>
        </p:nvSpPr>
        <p:spPr>
          <a:xfrm>
            <a:off x="7004304" y="3913632"/>
            <a:ext cx="4498848" cy="329184"/>
          </a:xfrm>
          <a:prstGeom prst="rect">
            <a:avLst/>
          </a:prstGeom>
          <a:noFill/>
          <a:ln/>
        </p:spPr>
        <p:txBody>
          <a:bodyPr wrap="square" lIns="0" tIns="0" rIns="0" bIns="0" rtlCol="0" anchor="ctr"/>
          <a:lstStyle/>
          <a:p>
            <a:pPr marL="0" indent="0">
              <a:buNone/>
            </a:pPr>
            <a:r>
              <a:rPr lang="en-US" sz="1800" b="1" dirty="0">
                <a:solidFill>
                  <a:srgbClr val="16345C"/>
                </a:solidFill>
                <a:latin typeface="Calibri" pitchFamily="34" charset="0"/>
                <a:ea typeface="Calibri" pitchFamily="34" charset="-122"/>
                <a:cs typeface="Calibri" pitchFamily="34" charset="-120"/>
              </a:rPr>
              <a:t>It measures how well you know each word.</a:t>
            </a:r>
            <a:endParaRPr lang="en-US" sz="1800" dirty="0"/>
          </a:p>
        </p:txBody>
      </p:sp>
      <p:sp>
        <p:nvSpPr>
          <p:cNvPr id="13" name="Text 11"/>
          <p:cNvSpPr/>
          <p:nvPr/>
        </p:nvSpPr>
        <p:spPr>
          <a:xfrm>
            <a:off x="7004304" y="4261104"/>
            <a:ext cx="4498848" cy="969264"/>
          </a:xfrm>
          <a:prstGeom prst="rect">
            <a:avLst/>
          </a:prstGeom>
          <a:noFill/>
          <a:ln/>
        </p:spPr>
        <p:txBody>
          <a:bodyPr wrap="square" lIns="0" tIns="0" rIns="0" bIns="0" rtlCol="0" anchor="ctr"/>
          <a:lstStyle/>
          <a:p>
            <a:pPr marL="0" indent="0">
              <a:lnSpc>
                <a:spcPts val="1900"/>
              </a:lnSpc>
              <a:buNone/>
            </a:pPr>
            <a:r>
              <a:rPr lang="en-US" sz="1350" dirty="0">
                <a:solidFill>
                  <a:srgbClr val="6E6E73"/>
                </a:solidFill>
                <a:latin typeface="Calibri" pitchFamily="34" charset="0"/>
                <a:ea typeface="Calibri" pitchFamily="34" charset="-122"/>
                <a:cs typeface="Calibri" pitchFamily="34" charset="-120"/>
              </a:rPr>
              <a:t>Every answer updates a confidence score — right or wrong, how fast, what you confused it with. The words you are shakiest on come back; the solid ones stay away.</a:t>
            </a:r>
            <a:endParaRPr lang="en-US" sz="1350" dirty="0"/>
          </a:p>
        </p:txBody>
      </p:sp>
      <p:sp>
        <p:nvSpPr>
          <p:cNvPr id="14" name="Text 12"/>
          <p:cNvSpPr/>
          <p:nvPr/>
        </p:nvSpPr>
        <p:spPr>
          <a:xfrm>
            <a:off x="7004304" y="5285232"/>
            <a:ext cx="4498848" cy="329184"/>
          </a:xfrm>
          <a:prstGeom prst="rect">
            <a:avLst/>
          </a:prstGeom>
          <a:noFill/>
          <a:ln/>
        </p:spPr>
        <p:txBody>
          <a:bodyPr wrap="square" lIns="0" tIns="0" rIns="0" bIns="0" rtlCol="0" anchor="ctr"/>
          <a:lstStyle/>
          <a:p>
            <a:pPr marL="0" indent="0">
              <a:buNone/>
            </a:pPr>
            <a:r>
              <a:rPr lang="en-US" sz="1800" b="1" dirty="0">
                <a:solidFill>
                  <a:srgbClr val="16345C"/>
                </a:solidFill>
                <a:latin typeface="Calibri" pitchFamily="34" charset="0"/>
                <a:ea typeface="Calibri" pitchFamily="34" charset="-122"/>
                <a:cs typeface="Calibri" pitchFamily="34" charset="-120"/>
              </a:rPr>
              <a:t>It won't bury you.</a:t>
            </a:r>
            <a:endParaRPr lang="en-US" sz="1800" dirty="0"/>
          </a:p>
        </p:txBody>
      </p:sp>
      <p:sp>
        <p:nvSpPr>
          <p:cNvPr id="15" name="Text 13"/>
          <p:cNvSpPr/>
          <p:nvPr/>
        </p:nvSpPr>
        <p:spPr>
          <a:xfrm>
            <a:off x="7004304" y="5632704"/>
            <a:ext cx="4498848" cy="969264"/>
          </a:xfrm>
          <a:prstGeom prst="rect">
            <a:avLst/>
          </a:prstGeom>
          <a:noFill/>
          <a:ln/>
        </p:spPr>
        <p:txBody>
          <a:bodyPr wrap="square" lIns="0" tIns="0" rIns="0" bIns="0" rtlCol="0" anchor="ctr"/>
          <a:lstStyle/>
          <a:p>
            <a:pPr marL="0" indent="0">
              <a:lnSpc>
                <a:spcPts val="1900"/>
              </a:lnSpc>
              <a:buNone/>
            </a:pPr>
            <a:r>
              <a:rPr lang="en-US" sz="1350" dirty="0">
                <a:solidFill>
                  <a:srgbClr val="6E6E73"/>
                </a:solidFill>
                <a:latin typeface="Calibri" pitchFamily="34" charset="0"/>
                <a:ea typeface="Calibri" pitchFamily="34" charset="-122"/>
                <a:cs typeface="Calibri" pitchFamily="34" charset="-120"/>
              </a:rPr>
              <a:t>If too much of what you've learned has gone soft, new words pause until your base is healthy again. You never carry a backlog.</a:t>
            </a:r>
            <a:endParaRPr lang="en-US" sz="1350" dirty="0"/>
          </a:p>
        </p:txBody>
      </p:sp>
      <p:sp>
        <p:nvSpPr>
          <p:cNvPr id="16" name="Text 14"/>
          <p:cNvSpPr/>
          <p:nvPr/>
        </p:nvSpPr>
        <p:spPr>
          <a:xfrm>
            <a:off x="658368" y="6053328"/>
            <a:ext cx="6766560" cy="365760"/>
          </a:xfrm>
          <a:prstGeom prst="rect">
            <a:avLst/>
          </a:prstGeom>
          <a:noFill/>
          <a:ln/>
        </p:spPr>
        <p:txBody>
          <a:bodyPr wrap="square" lIns="0" tIns="0" rIns="0" bIns="0" rtlCol="0" anchor="ctr"/>
          <a:lstStyle/>
          <a:p>
            <a:pPr marL="0" indent="0">
              <a:buNone/>
            </a:pPr>
            <a:r>
              <a:rPr lang="en-US" sz="1200" i="1" dirty="0">
                <a:solidFill>
                  <a:srgbClr val="93A9C8"/>
                </a:solidFill>
                <a:latin typeface="Calibri" pitchFamily="34" charset="0"/>
                <a:ea typeface="Calibri" pitchFamily="34" charset="-122"/>
                <a:cs typeface="Calibri" pitchFamily="34" charset="-120"/>
              </a:rPr>
              <a:t>Sources and the full arithmetic behind 37% are published inside the app.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475488"/>
            <a:ext cx="8229600" cy="365760"/>
          </a:xfrm>
          <a:prstGeom prst="rect">
            <a:avLst/>
          </a:prstGeom>
          <a:noFill/>
          <a:ln/>
        </p:spPr>
        <p:txBody>
          <a:bodyPr wrap="square" lIns="0" tIns="0" rIns="0" bIns="0" rtlCol="0" anchor="ctr"/>
          <a:lstStyle/>
          <a:p>
            <a:pPr marL="0" indent="0">
              <a:buNone/>
            </a:pPr>
            <a:r>
              <a:rPr lang="en-US" sz="1400" b="1" kern="0" spc="120" dirty="0">
                <a:solidFill>
                  <a:srgbClr val="5F6D12"/>
                </a:solidFill>
                <a:latin typeface="Calibri" pitchFamily="34" charset="0"/>
                <a:ea typeface="Calibri" pitchFamily="34" charset="-122"/>
                <a:cs typeface="Calibri" pitchFamily="34" charset="-120"/>
              </a:rPr>
              <a:t>보상 · What you earn</a:t>
            </a:r>
            <a:endParaRPr lang="en-US" sz="1400" dirty="0"/>
          </a:p>
        </p:txBody>
      </p:sp>
      <p:sp>
        <p:nvSpPr>
          <p:cNvPr id="3" name="Text 1"/>
          <p:cNvSpPr/>
          <p:nvPr/>
        </p:nvSpPr>
        <p:spPr>
          <a:xfrm>
            <a:off x="658368" y="859536"/>
            <a:ext cx="10881360" cy="658368"/>
          </a:xfrm>
          <a:prstGeom prst="rect">
            <a:avLst/>
          </a:prstGeom>
          <a:noFill/>
          <a:ln/>
        </p:spPr>
        <p:txBody>
          <a:bodyPr wrap="square" lIns="0" tIns="0" rIns="0" bIns="0" rtlCol="0" anchor="ctr"/>
          <a:lstStyle/>
          <a:p>
            <a:pPr marL="0" indent="0">
              <a:buNone/>
            </a:pPr>
            <a:r>
              <a:rPr lang="en-US" sz="3600" b="1" dirty="0">
                <a:solidFill>
                  <a:srgbClr val="1D1D1F"/>
                </a:solidFill>
                <a:latin typeface="Calibri" pitchFamily="34" charset="0"/>
                <a:ea typeface="Calibri" pitchFamily="34" charset="-122"/>
                <a:cs typeface="Calibri" pitchFamily="34" charset="-120"/>
              </a:rPr>
              <a:t>Medals you grow, and music you unlock.</a:t>
            </a:r>
            <a:endParaRPr lang="en-US" sz="3600" dirty="0"/>
          </a:p>
        </p:txBody>
      </p:sp>
      <p:pic>
        <p:nvPicPr>
          <p:cNvPr id="4" name="Image 0" descr="assets/medals/medal-0100-seed@512.png"/>
          <p:cNvPicPr>
            <a:picLocks noChangeAspect="1"/>
          </p:cNvPicPr>
          <p:nvPr/>
        </p:nvPicPr>
        <p:blipFill>
          <a:blip r:embed="rId3"/>
          <a:stretch>
            <a:fillRect/>
          </a:stretch>
        </p:blipFill>
        <p:spPr>
          <a:xfrm>
            <a:off x="740664" y="2066544"/>
            <a:ext cx="1810512" cy="1810512"/>
          </a:xfrm>
          <a:prstGeom prst="rect">
            <a:avLst/>
          </a:prstGeom>
        </p:spPr>
      </p:pic>
      <p:sp>
        <p:nvSpPr>
          <p:cNvPr id="5" name="Text 2"/>
          <p:cNvSpPr/>
          <p:nvPr/>
        </p:nvSpPr>
        <p:spPr>
          <a:xfrm>
            <a:off x="658368" y="4023360"/>
            <a:ext cx="1975104" cy="329184"/>
          </a:xfrm>
          <a:prstGeom prst="rect">
            <a:avLst/>
          </a:prstGeom>
          <a:noFill/>
          <a:ln/>
        </p:spPr>
        <p:txBody>
          <a:bodyPr wrap="square" lIns="0" tIns="0" rIns="0" bIns="0" rtlCol="0" anchor="ctr"/>
          <a:lstStyle/>
          <a:p>
            <a:pPr marL="0" indent="0" algn="ctr">
              <a:buNone/>
            </a:pPr>
            <a:r>
              <a:rPr lang="en-US" sz="1700" b="1" dirty="0">
                <a:solidFill>
                  <a:srgbClr val="1D1D1F"/>
                </a:solidFill>
                <a:latin typeface="Calibri" pitchFamily="34" charset="0"/>
                <a:ea typeface="Calibri" pitchFamily="34" charset="-122"/>
                <a:cs typeface="Calibri" pitchFamily="34" charset="-120"/>
              </a:rPr>
              <a:t>씨앗</a:t>
            </a:r>
            <a:endParaRPr lang="en-US" sz="1700" dirty="0"/>
          </a:p>
        </p:txBody>
      </p:sp>
      <p:sp>
        <p:nvSpPr>
          <p:cNvPr id="6" name="Text 3"/>
          <p:cNvSpPr/>
          <p:nvPr/>
        </p:nvSpPr>
        <p:spPr>
          <a:xfrm>
            <a:off x="658368" y="4370832"/>
            <a:ext cx="1975104" cy="292608"/>
          </a:xfrm>
          <a:prstGeom prst="rect">
            <a:avLst/>
          </a:prstGeom>
          <a:noFill/>
          <a:ln/>
        </p:spPr>
        <p:txBody>
          <a:bodyPr wrap="square" lIns="0" tIns="0" rIns="0" bIns="0" rtlCol="0" anchor="ctr"/>
          <a:lstStyle/>
          <a:p>
            <a:pPr marL="0" indent="0" algn="ctr">
              <a:buNone/>
            </a:pPr>
            <a:r>
              <a:rPr lang="en-US" sz="1400" dirty="0">
                <a:solidFill>
                  <a:srgbClr val="6E6E73"/>
                </a:solidFill>
                <a:latin typeface="Calibri" pitchFamily="34" charset="0"/>
                <a:ea typeface="Calibri" pitchFamily="34" charset="-122"/>
                <a:cs typeface="Calibri" pitchFamily="34" charset="-120"/>
              </a:rPr>
              <a:t>Seed</a:t>
            </a:r>
            <a:endParaRPr lang="en-US" sz="1400" dirty="0"/>
          </a:p>
        </p:txBody>
      </p:sp>
      <p:sp>
        <p:nvSpPr>
          <p:cNvPr id="7" name="Text 4"/>
          <p:cNvSpPr/>
          <p:nvPr/>
        </p:nvSpPr>
        <p:spPr>
          <a:xfrm>
            <a:off x="658368" y="4681728"/>
            <a:ext cx="1975104" cy="292608"/>
          </a:xfrm>
          <a:prstGeom prst="rect">
            <a:avLst/>
          </a:prstGeom>
          <a:noFill/>
          <a:ln/>
        </p:spPr>
        <p:txBody>
          <a:bodyPr wrap="square" lIns="0" tIns="0" rIns="0" bIns="0" rtlCol="0" anchor="ctr"/>
          <a:lstStyle/>
          <a:p>
            <a:pPr marL="0" indent="0" algn="ctr">
              <a:buNone/>
            </a:pPr>
            <a:r>
              <a:rPr lang="en-US" sz="1250" b="1" dirty="0">
                <a:solidFill>
                  <a:srgbClr val="5F6D12"/>
                </a:solidFill>
                <a:latin typeface="Calibri" pitchFamily="34" charset="0"/>
                <a:ea typeface="Calibri" pitchFamily="34" charset="-122"/>
                <a:cs typeface="Calibri" pitchFamily="34" charset="-120"/>
              </a:rPr>
              <a:t>100 words</a:t>
            </a:r>
            <a:endParaRPr lang="en-US" sz="1250" dirty="0"/>
          </a:p>
        </p:txBody>
      </p:sp>
      <p:pic>
        <p:nvPicPr>
          <p:cNvPr id="8" name="Image 1" descr="assets/medals/medal-0500-sprout@512.png"/>
          <p:cNvPicPr>
            <a:picLocks noChangeAspect="1"/>
          </p:cNvPicPr>
          <p:nvPr/>
        </p:nvPicPr>
        <p:blipFill>
          <a:blip r:embed="rId4"/>
          <a:stretch>
            <a:fillRect/>
          </a:stretch>
        </p:blipFill>
        <p:spPr>
          <a:xfrm>
            <a:off x="2788920" y="2066544"/>
            <a:ext cx="1810512" cy="1810512"/>
          </a:xfrm>
          <a:prstGeom prst="rect">
            <a:avLst/>
          </a:prstGeom>
        </p:spPr>
      </p:pic>
      <p:sp>
        <p:nvSpPr>
          <p:cNvPr id="9" name="Text 5"/>
          <p:cNvSpPr/>
          <p:nvPr/>
        </p:nvSpPr>
        <p:spPr>
          <a:xfrm>
            <a:off x="2706624" y="4023360"/>
            <a:ext cx="1975104" cy="329184"/>
          </a:xfrm>
          <a:prstGeom prst="rect">
            <a:avLst/>
          </a:prstGeom>
          <a:noFill/>
          <a:ln/>
        </p:spPr>
        <p:txBody>
          <a:bodyPr wrap="square" lIns="0" tIns="0" rIns="0" bIns="0" rtlCol="0" anchor="ctr"/>
          <a:lstStyle/>
          <a:p>
            <a:pPr marL="0" indent="0" algn="ctr">
              <a:buNone/>
            </a:pPr>
            <a:r>
              <a:rPr lang="en-US" sz="1700" b="1" dirty="0">
                <a:solidFill>
                  <a:srgbClr val="1D1D1F"/>
                </a:solidFill>
                <a:latin typeface="Calibri" pitchFamily="34" charset="0"/>
                <a:ea typeface="Calibri" pitchFamily="34" charset="-122"/>
                <a:cs typeface="Calibri" pitchFamily="34" charset="-120"/>
              </a:rPr>
              <a:t>새싹</a:t>
            </a:r>
            <a:endParaRPr lang="en-US" sz="1700" dirty="0"/>
          </a:p>
        </p:txBody>
      </p:sp>
      <p:sp>
        <p:nvSpPr>
          <p:cNvPr id="10" name="Text 6"/>
          <p:cNvSpPr/>
          <p:nvPr/>
        </p:nvSpPr>
        <p:spPr>
          <a:xfrm>
            <a:off x="2706624" y="4370832"/>
            <a:ext cx="1975104" cy="292608"/>
          </a:xfrm>
          <a:prstGeom prst="rect">
            <a:avLst/>
          </a:prstGeom>
          <a:noFill/>
          <a:ln/>
        </p:spPr>
        <p:txBody>
          <a:bodyPr wrap="square" lIns="0" tIns="0" rIns="0" bIns="0" rtlCol="0" anchor="ctr"/>
          <a:lstStyle/>
          <a:p>
            <a:pPr marL="0" indent="0" algn="ctr">
              <a:buNone/>
            </a:pPr>
            <a:r>
              <a:rPr lang="en-US" sz="1400" dirty="0">
                <a:solidFill>
                  <a:srgbClr val="6E6E73"/>
                </a:solidFill>
                <a:latin typeface="Calibri" pitchFamily="34" charset="0"/>
                <a:ea typeface="Calibri" pitchFamily="34" charset="-122"/>
                <a:cs typeface="Calibri" pitchFamily="34" charset="-120"/>
              </a:rPr>
              <a:t>Sprout</a:t>
            </a:r>
            <a:endParaRPr lang="en-US" sz="1400" dirty="0"/>
          </a:p>
        </p:txBody>
      </p:sp>
      <p:sp>
        <p:nvSpPr>
          <p:cNvPr id="11" name="Text 7"/>
          <p:cNvSpPr/>
          <p:nvPr/>
        </p:nvSpPr>
        <p:spPr>
          <a:xfrm>
            <a:off x="2706624" y="4681728"/>
            <a:ext cx="1975104" cy="292608"/>
          </a:xfrm>
          <a:prstGeom prst="rect">
            <a:avLst/>
          </a:prstGeom>
          <a:noFill/>
          <a:ln/>
        </p:spPr>
        <p:txBody>
          <a:bodyPr wrap="square" lIns="0" tIns="0" rIns="0" bIns="0" rtlCol="0" anchor="ctr"/>
          <a:lstStyle/>
          <a:p>
            <a:pPr marL="0" indent="0" algn="ctr">
              <a:buNone/>
            </a:pPr>
            <a:r>
              <a:rPr lang="en-US" sz="1250" b="1" dirty="0">
                <a:solidFill>
                  <a:srgbClr val="5F6D12"/>
                </a:solidFill>
                <a:latin typeface="Calibri" pitchFamily="34" charset="0"/>
                <a:ea typeface="Calibri" pitchFamily="34" charset="-122"/>
                <a:cs typeface="Calibri" pitchFamily="34" charset="-120"/>
              </a:rPr>
              <a:t>500 words</a:t>
            </a:r>
            <a:endParaRPr lang="en-US" sz="1250" dirty="0"/>
          </a:p>
        </p:txBody>
      </p:sp>
      <p:pic>
        <p:nvPicPr>
          <p:cNvPr id="12" name="Image 2" descr="assets/medals/medal-1000-bloom@512.png"/>
          <p:cNvPicPr>
            <a:picLocks noChangeAspect="1"/>
          </p:cNvPicPr>
          <p:nvPr/>
        </p:nvPicPr>
        <p:blipFill>
          <a:blip r:embed="rId5"/>
          <a:stretch>
            <a:fillRect/>
          </a:stretch>
        </p:blipFill>
        <p:spPr>
          <a:xfrm>
            <a:off x="4837176" y="2066544"/>
            <a:ext cx="1810512" cy="1810512"/>
          </a:xfrm>
          <a:prstGeom prst="rect">
            <a:avLst/>
          </a:prstGeom>
        </p:spPr>
      </p:pic>
      <p:sp>
        <p:nvSpPr>
          <p:cNvPr id="13" name="Text 8"/>
          <p:cNvSpPr/>
          <p:nvPr/>
        </p:nvSpPr>
        <p:spPr>
          <a:xfrm>
            <a:off x="4754880" y="4023360"/>
            <a:ext cx="1975104" cy="329184"/>
          </a:xfrm>
          <a:prstGeom prst="rect">
            <a:avLst/>
          </a:prstGeom>
          <a:noFill/>
          <a:ln/>
        </p:spPr>
        <p:txBody>
          <a:bodyPr wrap="square" lIns="0" tIns="0" rIns="0" bIns="0" rtlCol="0" anchor="ctr"/>
          <a:lstStyle/>
          <a:p>
            <a:pPr marL="0" indent="0" algn="ctr">
              <a:buNone/>
            </a:pPr>
            <a:r>
              <a:rPr lang="en-US" sz="1700" b="1" dirty="0">
                <a:solidFill>
                  <a:srgbClr val="1D1D1F"/>
                </a:solidFill>
                <a:latin typeface="Calibri" pitchFamily="34" charset="0"/>
                <a:ea typeface="Calibri" pitchFamily="34" charset="-122"/>
                <a:cs typeface="Calibri" pitchFamily="34" charset="-120"/>
              </a:rPr>
              <a:t>꽃</a:t>
            </a:r>
            <a:endParaRPr lang="en-US" sz="1700" dirty="0"/>
          </a:p>
        </p:txBody>
      </p:sp>
      <p:sp>
        <p:nvSpPr>
          <p:cNvPr id="14" name="Text 9"/>
          <p:cNvSpPr/>
          <p:nvPr/>
        </p:nvSpPr>
        <p:spPr>
          <a:xfrm>
            <a:off x="4754880" y="4370832"/>
            <a:ext cx="1975104" cy="292608"/>
          </a:xfrm>
          <a:prstGeom prst="rect">
            <a:avLst/>
          </a:prstGeom>
          <a:noFill/>
          <a:ln/>
        </p:spPr>
        <p:txBody>
          <a:bodyPr wrap="square" lIns="0" tIns="0" rIns="0" bIns="0" rtlCol="0" anchor="ctr"/>
          <a:lstStyle/>
          <a:p>
            <a:pPr marL="0" indent="0" algn="ctr">
              <a:buNone/>
            </a:pPr>
            <a:r>
              <a:rPr lang="en-US" sz="1400" dirty="0">
                <a:solidFill>
                  <a:srgbClr val="6E6E73"/>
                </a:solidFill>
                <a:latin typeface="Calibri" pitchFamily="34" charset="0"/>
                <a:ea typeface="Calibri" pitchFamily="34" charset="-122"/>
                <a:cs typeface="Calibri" pitchFamily="34" charset="-120"/>
              </a:rPr>
              <a:t>Bloom</a:t>
            </a:r>
            <a:endParaRPr lang="en-US" sz="1400" dirty="0"/>
          </a:p>
        </p:txBody>
      </p:sp>
      <p:sp>
        <p:nvSpPr>
          <p:cNvPr id="15" name="Text 10"/>
          <p:cNvSpPr/>
          <p:nvPr/>
        </p:nvSpPr>
        <p:spPr>
          <a:xfrm>
            <a:off x="4754880" y="4681728"/>
            <a:ext cx="1975104" cy="292608"/>
          </a:xfrm>
          <a:prstGeom prst="rect">
            <a:avLst/>
          </a:prstGeom>
          <a:noFill/>
          <a:ln/>
        </p:spPr>
        <p:txBody>
          <a:bodyPr wrap="square" lIns="0" tIns="0" rIns="0" bIns="0" rtlCol="0" anchor="ctr"/>
          <a:lstStyle/>
          <a:p>
            <a:pPr marL="0" indent="0" algn="ctr">
              <a:buNone/>
            </a:pPr>
            <a:r>
              <a:rPr lang="en-US" sz="1250" b="1" dirty="0">
                <a:solidFill>
                  <a:srgbClr val="5F6D12"/>
                </a:solidFill>
                <a:latin typeface="Calibri" pitchFamily="34" charset="0"/>
                <a:ea typeface="Calibri" pitchFamily="34" charset="-122"/>
                <a:cs typeface="Calibri" pitchFamily="34" charset="-120"/>
              </a:rPr>
              <a:t>1,000 words</a:t>
            </a:r>
            <a:endParaRPr lang="en-US" sz="1250" dirty="0"/>
          </a:p>
        </p:txBody>
      </p:sp>
      <p:pic>
        <p:nvPicPr>
          <p:cNvPr id="16" name="Image 3" descr="assets/medals/medal-1500-mugunghwa@512.png"/>
          <p:cNvPicPr>
            <a:picLocks noChangeAspect="1"/>
          </p:cNvPicPr>
          <p:nvPr/>
        </p:nvPicPr>
        <p:blipFill>
          <a:blip r:embed="rId6"/>
          <a:stretch>
            <a:fillRect/>
          </a:stretch>
        </p:blipFill>
        <p:spPr>
          <a:xfrm>
            <a:off x="6885432" y="2066544"/>
            <a:ext cx="1810512" cy="1810512"/>
          </a:xfrm>
          <a:prstGeom prst="rect">
            <a:avLst/>
          </a:prstGeom>
        </p:spPr>
      </p:pic>
      <p:sp>
        <p:nvSpPr>
          <p:cNvPr id="17" name="Text 11"/>
          <p:cNvSpPr/>
          <p:nvPr/>
        </p:nvSpPr>
        <p:spPr>
          <a:xfrm>
            <a:off x="6803136" y="4023360"/>
            <a:ext cx="1975104" cy="329184"/>
          </a:xfrm>
          <a:prstGeom prst="rect">
            <a:avLst/>
          </a:prstGeom>
          <a:noFill/>
          <a:ln/>
        </p:spPr>
        <p:txBody>
          <a:bodyPr wrap="square" lIns="0" tIns="0" rIns="0" bIns="0" rtlCol="0" anchor="ctr"/>
          <a:lstStyle/>
          <a:p>
            <a:pPr marL="0" indent="0" algn="ctr">
              <a:buNone/>
            </a:pPr>
            <a:r>
              <a:rPr lang="en-US" sz="1700" b="1" dirty="0">
                <a:solidFill>
                  <a:srgbClr val="1D1D1F"/>
                </a:solidFill>
                <a:latin typeface="Calibri" pitchFamily="34" charset="0"/>
                <a:ea typeface="Calibri" pitchFamily="34" charset="-122"/>
                <a:cs typeface="Calibri" pitchFamily="34" charset="-120"/>
              </a:rPr>
              <a:t>무궁화</a:t>
            </a:r>
            <a:endParaRPr lang="en-US" sz="1700" dirty="0"/>
          </a:p>
        </p:txBody>
      </p:sp>
      <p:sp>
        <p:nvSpPr>
          <p:cNvPr id="18" name="Text 12"/>
          <p:cNvSpPr/>
          <p:nvPr/>
        </p:nvSpPr>
        <p:spPr>
          <a:xfrm>
            <a:off x="6803136" y="4370832"/>
            <a:ext cx="1975104" cy="292608"/>
          </a:xfrm>
          <a:prstGeom prst="rect">
            <a:avLst/>
          </a:prstGeom>
          <a:noFill/>
          <a:ln/>
        </p:spPr>
        <p:txBody>
          <a:bodyPr wrap="square" lIns="0" tIns="0" rIns="0" bIns="0" rtlCol="0" anchor="ctr"/>
          <a:lstStyle/>
          <a:p>
            <a:pPr marL="0" indent="0" algn="ctr">
              <a:buNone/>
            </a:pPr>
            <a:r>
              <a:rPr lang="en-US" sz="1400" dirty="0">
                <a:solidFill>
                  <a:srgbClr val="6E6E73"/>
                </a:solidFill>
                <a:latin typeface="Calibri" pitchFamily="34" charset="0"/>
                <a:ea typeface="Calibri" pitchFamily="34" charset="-122"/>
                <a:cs typeface="Calibri" pitchFamily="34" charset="-120"/>
              </a:rPr>
              <a:t>Mugunghwa</a:t>
            </a:r>
            <a:endParaRPr lang="en-US" sz="1400" dirty="0"/>
          </a:p>
        </p:txBody>
      </p:sp>
      <p:sp>
        <p:nvSpPr>
          <p:cNvPr id="19" name="Text 13"/>
          <p:cNvSpPr/>
          <p:nvPr/>
        </p:nvSpPr>
        <p:spPr>
          <a:xfrm>
            <a:off x="6803136" y="4681728"/>
            <a:ext cx="1975104" cy="292608"/>
          </a:xfrm>
          <a:prstGeom prst="rect">
            <a:avLst/>
          </a:prstGeom>
          <a:noFill/>
          <a:ln/>
        </p:spPr>
        <p:txBody>
          <a:bodyPr wrap="square" lIns="0" tIns="0" rIns="0" bIns="0" rtlCol="0" anchor="ctr"/>
          <a:lstStyle/>
          <a:p>
            <a:pPr marL="0" indent="0" algn="ctr">
              <a:buNone/>
            </a:pPr>
            <a:r>
              <a:rPr lang="en-US" sz="1250" b="1" dirty="0">
                <a:solidFill>
                  <a:srgbClr val="5F6D12"/>
                </a:solidFill>
                <a:latin typeface="Calibri" pitchFamily="34" charset="0"/>
                <a:ea typeface="Calibri" pitchFamily="34" charset="-122"/>
                <a:cs typeface="Calibri" pitchFamily="34" charset="-120"/>
              </a:rPr>
              <a:t>1,500 words</a:t>
            </a:r>
            <a:endParaRPr lang="en-US" sz="1250" dirty="0"/>
          </a:p>
        </p:txBody>
      </p:sp>
      <p:sp>
        <p:nvSpPr>
          <p:cNvPr id="20" name="Text 14"/>
          <p:cNvSpPr/>
          <p:nvPr/>
        </p:nvSpPr>
        <p:spPr>
          <a:xfrm>
            <a:off x="658368" y="5358384"/>
            <a:ext cx="7863840" cy="365760"/>
          </a:xfrm>
          <a:prstGeom prst="rect">
            <a:avLst/>
          </a:prstGeom>
          <a:noFill/>
          <a:ln/>
        </p:spPr>
        <p:txBody>
          <a:bodyPr wrap="square" lIns="0" tIns="0" rIns="0" bIns="0" rtlCol="0" anchor="ctr"/>
          <a:lstStyle/>
          <a:p>
            <a:pPr marL="0" indent="0">
              <a:buNone/>
            </a:pPr>
            <a:r>
              <a:rPr lang="en-US" sz="1400" dirty="0">
                <a:solidFill>
                  <a:srgbClr val="6E6E73"/>
                </a:solidFill>
                <a:latin typeface="Calibri" pitchFamily="34" charset="0"/>
                <a:ea typeface="Calibri" pitchFamily="34" charset="-122"/>
                <a:cs typeface="Calibri" pitchFamily="34" charset="-120"/>
              </a:rPr>
              <a:t>Fifteen medals in all — the same 씨앗 → 무궁화 ladder our classes use.</a:t>
            </a:r>
            <a:endParaRPr lang="en-US" sz="1400" dirty="0"/>
          </a:p>
        </p:txBody>
      </p:sp>
      <p:sp>
        <p:nvSpPr>
          <p:cNvPr id="21" name="Shape 15"/>
          <p:cNvSpPr/>
          <p:nvPr/>
        </p:nvSpPr>
        <p:spPr>
          <a:xfrm>
            <a:off x="8778240" y="1920240"/>
            <a:ext cx="2724912" cy="3803904"/>
          </a:xfrm>
          <a:prstGeom prst="roundRect">
            <a:avLst>
              <a:gd name="adj" fmla="val 6040"/>
            </a:avLst>
          </a:prstGeom>
          <a:solidFill>
            <a:srgbClr val="16345C"/>
          </a:solidFill>
          <a:ln w="12700">
            <a:solidFill>
              <a:srgbClr val="16345C"/>
            </a:solidFill>
            <a:prstDash val="solid"/>
          </a:ln>
        </p:spPr>
        <p:txBody>
          <a:bodyPr/>
          <a:lstStyle/>
          <a:p>
            <a:endParaRPr lang="en-US"/>
          </a:p>
        </p:txBody>
      </p:sp>
      <p:pic>
        <p:nvPicPr>
          <p:cNvPr id="22" name="Image 4" descr="png/boombox-navy.png"/>
          <p:cNvPicPr>
            <a:picLocks noChangeAspect="1"/>
          </p:cNvPicPr>
          <p:nvPr/>
        </p:nvPicPr>
        <p:blipFill>
          <a:blip r:embed="rId7"/>
          <a:stretch>
            <a:fillRect/>
          </a:stretch>
        </p:blipFill>
        <p:spPr>
          <a:xfrm>
            <a:off x="9107424" y="2249424"/>
            <a:ext cx="2066544" cy="1847088"/>
          </a:xfrm>
          <a:prstGeom prst="rect">
            <a:avLst/>
          </a:prstGeom>
        </p:spPr>
      </p:pic>
      <p:sp>
        <p:nvSpPr>
          <p:cNvPr id="23" name="Text 16"/>
          <p:cNvSpPr/>
          <p:nvPr/>
        </p:nvSpPr>
        <p:spPr>
          <a:xfrm>
            <a:off x="8997696" y="4315968"/>
            <a:ext cx="2286000" cy="32918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The stereo</a:t>
            </a:r>
            <a:endParaRPr lang="en-US" sz="1700" dirty="0"/>
          </a:p>
        </p:txBody>
      </p:sp>
      <p:sp>
        <p:nvSpPr>
          <p:cNvPr id="24" name="Text 17"/>
          <p:cNvSpPr/>
          <p:nvPr/>
        </p:nvSpPr>
        <p:spPr>
          <a:xfrm>
            <a:off x="8997696" y="4681728"/>
            <a:ext cx="2286000" cy="841248"/>
          </a:xfrm>
          <a:prstGeom prst="rect">
            <a:avLst/>
          </a:prstGeom>
          <a:noFill/>
          <a:ln/>
        </p:spPr>
        <p:txBody>
          <a:bodyPr wrap="square" lIns="0" tIns="0" rIns="0" bIns="0" rtlCol="0" anchor="ctr"/>
          <a:lstStyle/>
          <a:p>
            <a:pPr marL="0" indent="0" algn="ctr">
              <a:lnSpc>
                <a:spcPts val="1700"/>
              </a:lnSpc>
              <a:buNone/>
            </a:pPr>
            <a:r>
              <a:rPr lang="en-US" sz="1250" dirty="0">
                <a:solidFill>
                  <a:srgbClr val="CFDBEC"/>
                </a:solidFill>
                <a:latin typeface="Calibri" pitchFamily="34" charset="0"/>
                <a:ea typeface="Calibri" pitchFamily="34" charset="-122"/>
                <a:cs typeface="Calibri" pitchFamily="34" charset="-120"/>
              </a:rPr>
              <a:t>It arrives dusty. Fifty proven words cleans it up, and every medal after that adds another song.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345C"/>
        </a:solidFill>
        <a:effectLst/>
      </p:bgPr>
    </p:bg>
    <p:spTree>
      <p:nvGrpSpPr>
        <p:cNvPr id="1" name=""/>
        <p:cNvGrpSpPr/>
        <p:nvPr/>
      </p:nvGrpSpPr>
      <p:grpSpPr>
        <a:xfrm>
          <a:off x="0" y="0"/>
          <a:ext cx="0" cy="0"/>
          <a:chOff x="0" y="0"/>
          <a:chExt cx="0" cy="0"/>
        </a:xfrm>
      </p:grpSpPr>
      <p:pic>
        <p:nvPicPr>
          <p:cNvPr id="2" name="Image 0" descr="png/logo-navy.png"/>
          <p:cNvPicPr>
            <a:picLocks noChangeAspect="1"/>
          </p:cNvPicPr>
          <p:nvPr/>
        </p:nvPicPr>
        <p:blipFill>
          <a:blip r:embed="rId3"/>
          <a:stretch>
            <a:fillRect/>
          </a:stretch>
        </p:blipFill>
        <p:spPr>
          <a:xfrm>
            <a:off x="658368" y="475488"/>
            <a:ext cx="530352" cy="530352"/>
          </a:xfrm>
          <a:prstGeom prst="rect">
            <a:avLst/>
          </a:prstGeom>
        </p:spPr>
      </p:pic>
      <p:sp>
        <p:nvSpPr>
          <p:cNvPr id="3" name="Text 0"/>
          <p:cNvSpPr/>
          <p:nvPr/>
        </p:nvSpPr>
        <p:spPr>
          <a:xfrm>
            <a:off x="1316736" y="548640"/>
            <a:ext cx="4572000" cy="384048"/>
          </a:xfrm>
          <a:prstGeom prst="rect">
            <a:avLst/>
          </a:prstGeom>
          <a:noFill/>
          <a:ln/>
        </p:spPr>
        <p:txBody>
          <a:bodyPr wrap="square" lIns="0" tIns="0" rIns="0" bIns="0" rtlCol="0" anchor="ctr"/>
          <a:lstStyle/>
          <a:p>
            <a:pPr marL="0" indent="0">
              <a:buNone/>
            </a:pPr>
            <a:r>
              <a:rPr lang="en-US" sz="1500" b="1" dirty="0">
                <a:solidFill>
                  <a:srgbClr val="D8E864"/>
                </a:solidFill>
                <a:latin typeface="Calibri" pitchFamily="34" charset="0"/>
                <a:ea typeface="Calibri" pitchFamily="34" charset="-122"/>
                <a:cs typeface="Calibri" pitchFamily="34" charset="-120"/>
              </a:rPr>
              <a:t>지금 시작하세요</a:t>
            </a:r>
            <a:endParaRPr lang="en-US" sz="1500" dirty="0"/>
          </a:p>
        </p:txBody>
      </p:sp>
      <p:sp>
        <p:nvSpPr>
          <p:cNvPr id="4" name="Text 1"/>
          <p:cNvSpPr/>
          <p:nvPr/>
        </p:nvSpPr>
        <p:spPr>
          <a:xfrm>
            <a:off x="658368" y="1847088"/>
            <a:ext cx="6309360" cy="786384"/>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Point your camera here.</a:t>
            </a:r>
            <a:endParaRPr lang="en-US" sz="4400" dirty="0"/>
          </a:p>
        </p:txBody>
      </p:sp>
      <p:sp>
        <p:nvSpPr>
          <p:cNvPr id="5" name="Text 2"/>
          <p:cNvSpPr/>
          <p:nvPr/>
        </p:nvSpPr>
        <p:spPr>
          <a:xfrm>
            <a:off x="676656" y="2743200"/>
            <a:ext cx="6035040" cy="822960"/>
          </a:xfrm>
          <a:prstGeom prst="rect">
            <a:avLst/>
          </a:prstGeom>
          <a:noFill/>
          <a:ln/>
        </p:spPr>
        <p:txBody>
          <a:bodyPr wrap="square" lIns="0" tIns="0" rIns="0" bIns="0" rtlCol="0" anchor="ctr"/>
          <a:lstStyle/>
          <a:p>
            <a:pPr marL="0" indent="0">
              <a:lnSpc>
                <a:spcPts val="2600"/>
              </a:lnSpc>
              <a:buNone/>
            </a:pPr>
            <a:r>
              <a:rPr lang="en-US" sz="1700" dirty="0">
                <a:solidFill>
                  <a:srgbClr val="CFDBEC"/>
                </a:solidFill>
                <a:latin typeface="Calibri" pitchFamily="34" charset="0"/>
                <a:ea typeface="Calibri" pitchFamily="34" charset="-122"/>
                <a:cs typeface="Calibri" pitchFamily="34" charset="-120"/>
              </a:rPr>
              <a:t>No app to download. No account needed to start.</a:t>
            </a:r>
            <a:endParaRPr lang="en-US" sz="1700" dirty="0"/>
          </a:p>
          <a:p>
            <a:pPr marL="0" indent="0">
              <a:lnSpc>
                <a:spcPts val="2600"/>
              </a:lnSpc>
              <a:buNone/>
            </a:pPr>
            <a:r>
              <a:rPr lang="en-US" sz="1700" dirty="0">
                <a:solidFill>
                  <a:srgbClr val="CFDBEC"/>
                </a:solidFill>
                <a:latin typeface="Calibri" pitchFamily="34" charset="0"/>
                <a:ea typeface="Calibri" pitchFamily="34" charset="-122"/>
                <a:cs typeface="Calibri" pitchFamily="34" charset="-120"/>
              </a:rPr>
              <a:t>It opens straight into the first card.</a:t>
            </a:r>
            <a:endParaRPr lang="en-US" sz="1700" dirty="0"/>
          </a:p>
        </p:txBody>
      </p:sp>
      <p:sp>
        <p:nvSpPr>
          <p:cNvPr id="6" name="Text 3"/>
          <p:cNvSpPr/>
          <p:nvPr/>
        </p:nvSpPr>
        <p:spPr>
          <a:xfrm>
            <a:off x="676656" y="3986784"/>
            <a:ext cx="5852160" cy="292608"/>
          </a:xfrm>
          <a:prstGeom prst="rect">
            <a:avLst/>
          </a:prstGeom>
          <a:noFill/>
          <a:ln/>
        </p:spPr>
        <p:txBody>
          <a:bodyPr wrap="square" lIns="0" tIns="0" rIns="0" bIns="0" rtlCol="0" anchor="ctr"/>
          <a:lstStyle/>
          <a:p>
            <a:pPr marL="0" indent="0">
              <a:buNone/>
            </a:pPr>
            <a:r>
              <a:rPr lang="en-US" sz="1300" b="1" kern="0" spc="100" dirty="0">
                <a:solidFill>
                  <a:srgbClr val="93A9C8"/>
                </a:solidFill>
                <a:latin typeface="Calibri" pitchFamily="34" charset="0"/>
                <a:ea typeface="Calibri" pitchFamily="34" charset="-122"/>
                <a:cs typeface="Calibri" pitchFamily="34" charset="-120"/>
              </a:rPr>
              <a:t>Or type it in:</a:t>
            </a:r>
            <a:endParaRPr lang="en-US" sz="1300" dirty="0"/>
          </a:p>
        </p:txBody>
      </p:sp>
      <p:sp>
        <p:nvSpPr>
          <p:cNvPr id="7" name="Shape 4"/>
          <p:cNvSpPr/>
          <p:nvPr/>
        </p:nvSpPr>
        <p:spPr>
          <a:xfrm>
            <a:off x="658368" y="4315968"/>
            <a:ext cx="6547104" cy="841248"/>
          </a:xfrm>
          <a:prstGeom prst="roundRect">
            <a:avLst>
              <a:gd name="adj" fmla="val 15217"/>
            </a:avLst>
          </a:prstGeom>
          <a:solidFill>
            <a:srgbClr val="FFFFFF"/>
          </a:solidFill>
          <a:ln w="12700">
            <a:solidFill>
              <a:srgbClr val="FFFFFF"/>
            </a:solidFill>
            <a:prstDash val="solid"/>
          </a:ln>
        </p:spPr>
        <p:txBody>
          <a:bodyPr/>
          <a:lstStyle/>
          <a:p>
            <a:endParaRPr lang="en-US"/>
          </a:p>
        </p:txBody>
      </p:sp>
      <p:sp>
        <p:nvSpPr>
          <p:cNvPr id="8" name="Text 5"/>
          <p:cNvSpPr/>
          <p:nvPr/>
        </p:nvSpPr>
        <p:spPr>
          <a:xfrm>
            <a:off x="658368" y="4315968"/>
            <a:ext cx="6547104" cy="841248"/>
          </a:xfrm>
          <a:prstGeom prst="rect">
            <a:avLst/>
          </a:prstGeom>
          <a:noFill/>
          <a:ln/>
        </p:spPr>
        <p:txBody>
          <a:bodyPr wrap="square" lIns="0" tIns="0" rIns="0" bIns="0" rtlCol="0" anchor="ctr"/>
          <a:lstStyle/>
          <a:p>
            <a:pPr marL="0" indent="0" algn="ctr">
              <a:buNone/>
            </a:pPr>
            <a:r>
              <a:rPr lang="en-US" sz="2100" b="1" dirty="0">
                <a:solidFill>
                  <a:srgbClr val="16345C"/>
                </a:solidFill>
                <a:latin typeface="Calibri" pitchFamily="34" charset="0"/>
                <a:ea typeface="Calibri" pitchFamily="34" charset="-122"/>
                <a:cs typeface="Calibri" pitchFamily="34" charset="-120"/>
              </a:rPr>
              <a:t>northalabamakoreanschool.org/learn-korean</a:t>
            </a:r>
            <a:endParaRPr lang="en-US" sz="2100" dirty="0"/>
          </a:p>
        </p:txBody>
      </p:sp>
      <p:sp>
        <p:nvSpPr>
          <p:cNvPr id="9" name="Text 6"/>
          <p:cNvSpPr/>
          <p:nvPr/>
        </p:nvSpPr>
        <p:spPr>
          <a:xfrm>
            <a:off x="676656" y="5358384"/>
            <a:ext cx="6035040" cy="329184"/>
          </a:xfrm>
          <a:prstGeom prst="rect">
            <a:avLst/>
          </a:prstGeom>
          <a:noFill/>
          <a:ln/>
        </p:spPr>
        <p:txBody>
          <a:bodyPr wrap="square" lIns="0" tIns="0" rIns="0" bIns="0" rtlCol="0" anchor="ctr"/>
          <a:lstStyle/>
          <a:p>
            <a:pPr marL="0" indent="0">
              <a:buNone/>
            </a:pPr>
            <a:r>
              <a:rPr lang="en-US" sz="1400" dirty="0">
                <a:solidFill>
                  <a:srgbClr val="93A9C8"/>
                </a:solidFill>
                <a:latin typeface="Calibri" pitchFamily="34" charset="0"/>
                <a:ea typeface="Calibri" pitchFamily="34" charset="-122"/>
                <a:cs typeface="Calibri" pitchFamily="34" charset="-120"/>
              </a:rPr>
              <a:t>Works on any phone, tablet or computer.</a:t>
            </a:r>
            <a:endParaRPr lang="en-US" sz="1400" dirty="0"/>
          </a:p>
        </p:txBody>
      </p:sp>
      <p:sp>
        <p:nvSpPr>
          <p:cNvPr id="10" name="Shape 7"/>
          <p:cNvSpPr/>
          <p:nvPr/>
        </p:nvSpPr>
        <p:spPr>
          <a:xfrm>
            <a:off x="7680960" y="1316736"/>
            <a:ext cx="4041648" cy="4041648"/>
          </a:xfrm>
          <a:prstGeom prst="roundRect">
            <a:avLst>
              <a:gd name="adj" fmla="val 4525"/>
            </a:avLst>
          </a:prstGeom>
          <a:solidFill>
            <a:srgbClr val="FFFFFF"/>
          </a:solidFill>
          <a:ln w="12700">
            <a:solidFill>
              <a:srgbClr val="FFFFFF"/>
            </a:solidFill>
            <a:prstDash val="solid"/>
          </a:ln>
        </p:spPr>
        <p:txBody>
          <a:bodyPr/>
          <a:lstStyle/>
          <a:p>
            <a:endParaRPr lang="en-US"/>
          </a:p>
        </p:txBody>
      </p:sp>
      <p:pic>
        <p:nvPicPr>
          <p:cNvPr id="11" name="Image 1" descr="qr.png"/>
          <p:cNvPicPr>
            <a:picLocks noChangeAspect="1"/>
          </p:cNvPicPr>
          <p:nvPr/>
        </p:nvPicPr>
        <p:blipFill>
          <a:blip r:embed="rId4"/>
          <a:stretch>
            <a:fillRect/>
          </a:stretch>
        </p:blipFill>
        <p:spPr>
          <a:xfrm>
            <a:off x="7882128" y="1517904"/>
            <a:ext cx="3639312" cy="3639312"/>
          </a:xfrm>
          <a:prstGeom prst="rect">
            <a:avLst/>
          </a:prstGeom>
        </p:spPr>
      </p:pic>
      <p:sp>
        <p:nvSpPr>
          <p:cNvPr id="12" name="Text 8"/>
          <p:cNvSpPr/>
          <p:nvPr/>
        </p:nvSpPr>
        <p:spPr>
          <a:xfrm>
            <a:off x="7680960" y="5522976"/>
            <a:ext cx="4041648" cy="329184"/>
          </a:xfrm>
          <a:prstGeom prst="rect">
            <a:avLst/>
          </a:prstGeom>
          <a:noFill/>
          <a:ln/>
        </p:spPr>
        <p:txBody>
          <a:bodyPr wrap="square" lIns="0" tIns="0" rIns="0" bIns="0" rtlCol="0" anchor="ctr"/>
          <a:lstStyle/>
          <a:p>
            <a:pPr marL="0" indent="0" algn="ctr">
              <a:buNone/>
            </a:pPr>
            <a:r>
              <a:rPr lang="en-US" sz="1400" dirty="0">
                <a:solidFill>
                  <a:srgbClr val="93A9C8"/>
                </a:solidFill>
                <a:latin typeface="Calibri" pitchFamily="34" charset="0"/>
                <a:ea typeface="Calibri" pitchFamily="34" charset="-122"/>
                <a:cs typeface="Calibri" pitchFamily="34" charset="-120"/>
              </a:rPr>
              <a:t>한국어 실험실 · Korean Lab</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420624"/>
            <a:ext cx="8229600" cy="365760"/>
          </a:xfrm>
          <a:prstGeom prst="rect">
            <a:avLst/>
          </a:prstGeom>
          <a:noFill/>
          <a:ln/>
        </p:spPr>
        <p:txBody>
          <a:bodyPr wrap="square" lIns="0" tIns="0" rIns="0" bIns="0" rtlCol="0" anchor="ctr"/>
          <a:lstStyle/>
          <a:p>
            <a:pPr marL="0" indent="0">
              <a:buNone/>
            </a:pPr>
            <a:r>
              <a:rPr lang="en-US" sz="1400" b="1" kern="0" spc="120" dirty="0">
                <a:solidFill>
                  <a:srgbClr val="5F6D12"/>
                </a:solidFill>
                <a:latin typeface="Calibri" pitchFamily="34" charset="0"/>
                <a:ea typeface="Calibri" pitchFamily="34" charset="-122"/>
                <a:cs typeface="Calibri" pitchFamily="34" charset="-120"/>
              </a:rPr>
              <a:t>휴대폰에 저장하기 · Keep it on your phone</a:t>
            </a:r>
            <a:endParaRPr lang="en-US" sz="1400" dirty="0"/>
          </a:p>
        </p:txBody>
      </p:sp>
      <p:sp>
        <p:nvSpPr>
          <p:cNvPr id="3" name="Text 1"/>
          <p:cNvSpPr/>
          <p:nvPr/>
        </p:nvSpPr>
        <p:spPr>
          <a:xfrm>
            <a:off x="658368" y="786384"/>
            <a:ext cx="10881360" cy="603504"/>
          </a:xfrm>
          <a:prstGeom prst="rect">
            <a:avLst/>
          </a:prstGeom>
          <a:noFill/>
          <a:ln/>
        </p:spPr>
        <p:txBody>
          <a:bodyPr wrap="square" lIns="0" tIns="0" rIns="0" bIns="0" rtlCol="0" anchor="ctr"/>
          <a:lstStyle/>
          <a:p>
            <a:pPr marL="0" indent="0">
              <a:buNone/>
            </a:pPr>
            <a:r>
              <a:rPr lang="en-US" sz="3400" b="1" dirty="0">
                <a:solidFill>
                  <a:srgbClr val="1D1D1F"/>
                </a:solidFill>
                <a:latin typeface="Calibri" pitchFamily="34" charset="0"/>
                <a:ea typeface="Calibri" pitchFamily="34" charset="-122"/>
                <a:cs typeface="Calibri" pitchFamily="34" charset="-120"/>
              </a:rPr>
              <a:t>Two taps and it becomes an app.</a:t>
            </a:r>
            <a:endParaRPr lang="en-US" sz="3400" dirty="0"/>
          </a:p>
        </p:txBody>
      </p:sp>
      <p:pic>
        <p:nvPicPr>
          <p:cNvPr id="4" name="Image 0" descr="phone1.png"/>
          <p:cNvPicPr>
            <a:picLocks noChangeAspect="1"/>
          </p:cNvPicPr>
          <p:nvPr/>
        </p:nvPicPr>
        <p:blipFill>
          <a:blip r:embed="rId3"/>
          <a:stretch>
            <a:fillRect/>
          </a:stretch>
        </p:blipFill>
        <p:spPr>
          <a:xfrm>
            <a:off x="566928" y="1572768"/>
            <a:ext cx="2542032" cy="4206240"/>
          </a:xfrm>
          <a:prstGeom prst="rect">
            <a:avLst/>
          </a:prstGeom>
        </p:spPr>
      </p:pic>
      <p:pic>
        <p:nvPicPr>
          <p:cNvPr id="5" name="Image 1" descr="phone2.png"/>
          <p:cNvPicPr>
            <a:picLocks noChangeAspect="1"/>
          </p:cNvPicPr>
          <p:nvPr/>
        </p:nvPicPr>
        <p:blipFill>
          <a:blip r:embed="rId4"/>
          <a:stretch>
            <a:fillRect/>
          </a:stretch>
        </p:blipFill>
        <p:spPr>
          <a:xfrm>
            <a:off x="3273552" y="1572768"/>
            <a:ext cx="2542032" cy="4206240"/>
          </a:xfrm>
          <a:prstGeom prst="rect">
            <a:avLst/>
          </a:prstGeom>
        </p:spPr>
      </p:pic>
      <p:sp>
        <p:nvSpPr>
          <p:cNvPr id="6" name="Text 2"/>
          <p:cNvSpPr/>
          <p:nvPr/>
        </p:nvSpPr>
        <p:spPr>
          <a:xfrm>
            <a:off x="566928" y="5870448"/>
            <a:ext cx="2542032" cy="310896"/>
          </a:xfrm>
          <a:prstGeom prst="rect">
            <a:avLst/>
          </a:prstGeom>
          <a:noFill/>
          <a:ln/>
        </p:spPr>
        <p:txBody>
          <a:bodyPr wrap="square" lIns="0" tIns="0" rIns="0" bIns="0" rtlCol="0" anchor="ctr"/>
          <a:lstStyle/>
          <a:p>
            <a:pPr marL="0" indent="0" algn="ctr">
              <a:buNone/>
            </a:pPr>
            <a:r>
              <a:rPr lang="en-US" sz="1250" b="1" dirty="0">
                <a:solidFill>
                  <a:srgbClr val="6E6E73"/>
                </a:solidFill>
                <a:latin typeface="Calibri" pitchFamily="34" charset="0"/>
                <a:ea typeface="Calibri" pitchFamily="34" charset="-122"/>
                <a:cs typeface="Calibri" pitchFamily="34" charset="-120"/>
              </a:rPr>
              <a:t>The Share menu</a:t>
            </a:r>
            <a:endParaRPr lang="en-US" sz="1250" dirty="0"/>
          </a:p>
        </p:txBody>
      </p:sp>
      <p:sp>
        <p:nvSpPr>
          <p:cNvPr id="7" name="Text 3"/>
          <p:cNvSpPr/>
          <p:nvPr/>
        </p:nvSpPr>
        <p:spPr>
          <a:xfrm>
            <a:off x="3273552" y="5870448"/>
            <a:ext cx="2542032" cy="310896"/>
          </a:xfrm>
          <a:prstGeom prst="rect">
            <a:avLst/>
          </a:prstGeom>
          <a:noFill/>
          <a:ln/>
        </p:spPr>
        <p:txBody>
          <a:bodyPr wrap="square" lIns="0" tIns="0" rIns="0" bIns="0" rtlCol="0" anchor="ctr"/>
          <a:lstStyle/>
          <a:p>
            <a:pPr marL="0" indent="0" algn="ctr">
              <a:buNone/>
            </a:pPr>
            <a:r>
              <a:rPr lang="en-US" sz="1250" b="1" dirty="0">
                <a:solidFill>
                  <a:srgbClr val="6E6E73"/>
                </a:solidFill>
                <a:latin typeface="Calibri" pitchFamily="34" charset="0"/>
                <a:ea typeface="Calibri" pitchFamily="34" charset="-122"/>
                <a:cs typeface="Calibri" pitchFamily="34" charset="-120"/>
              </a:rPr>
              <a:t>Your home screen</a:t>
            </a:r>
            <a:endParaRPr lang="en-US" sz="1250" dirty="0"/>
          </a:p>
        </p:txBody>
      </p:sp>
      <p:sp>
        <p:nvSpPr>
          <p:cNvPr id="8" name="Shape 4"/>
          <p:cNvSpPr/>
          <p:nvPr/>
        </p:nvSpPr>
        <p:spPr>
          <a:xfrm>
            <a:off x="5961888" y="1700784"/>
            <a:ext cx="384048" cy="384048"/>
          </a:xfrm>
          <a:prstGeom prst="ellipse">
            <a:avLst/>
          </a:prstGeom>
          <a:solidFill>
            <a:srgbClr val="D8E864"/>
          </a:solidFill>
          <a:ln/>
        </p:spPr>
        <p:txBody>
          <a:bodyPr/>
          <a:lstStyle/>
          <a:p>
            <a:endParaRPr lang="en-US"/>
          </a:p>
        </p:txBody>
      </p:sp>
      <p:sp>
        <p:nvSpPr>
          <p:cNvPr id="9" name="Text 5"/>
          <p:cNvSpPr/>
          <p:nvPr/>
        </p:nvSpPr>
        <p:spPr>
          <a:xfrm>
            <a:off x="5961888" y="1700784"/>
            <a:ext cx="384048" cy="384048"/>
          </a:xfrm>
          <a:prstGeom prst="rect">
            <a:avLst/>
          </a:prstGeom>
          <a:noFill/>
          <a:ln/>
        </p:spPr>
        <p:txBody>
          <a:bodyPr wrap="square" lIns="0" tIns="0" rIns="0" bIns="0" rtlCol="0" anchor="ctr"/>
          <a:lstStyle/>
          <a:p>
            <a:pPr marL="0" indent="0" algn="ctr">
              <a:buNone/>
            </a:pPr>
            <a:r>
              <a:rPr lang="en-US" sz="1500" b="1" dirty="0">
                <a:solidFill>
                  <a:srgbClr val="36420A"/>
                </a:solidFill>
                <a:latin typeface="Calibri" pitchFamily="34" charset="0"/>
                <a:ea typeface="Calibri" pitchFamily="34" charset="-122"/>
                <a:cs typeface="Calibri" pitchFamily="34" charset="-120"/>
              </a:rPr>
              <a:t>1</a:t>
            </a:r>
            <a:endParaRPr lang="en-US" sz="1500" dirty="0"/>
          </a:p>
        </p:txBody>
      </p:sp>
      <p:sp>
        <p:nvSpPr>
          <p:cNvPr id="10" name="Text 6"/>
          <p:cNvSpPr/>
          <p:nvPr/>
        </p:nvSpPr>
        <p:spPr>
          <a:xfrm>
            <a:off x="6528816" y="1673352"/>
            <a:ext cx="4974336" cy="457200"/>
          </a:xfrm>
          <a:prstGeom prst="rect">
            <a:avLst/>
          </a:prstGeom>
          <a:noFill/>
          <a:ln/>
        </p:spPr>
        <p:txBody>
          <a:bodyPr wrap="square" lIns="0" tIns="0" rIns="0" bIns="0" rtlCol="0" anchor="ctr"/>
          <a:lstStyle/>
          <a:p>
            <a:pPr marL="0" indent="0">
              <a:lnSpc>
                <a:spcPts val="2100"/>
              </a:lnSpc>
              <a:buNone/>
            </a:pPr>
            <a:r>
              <a:rPr lang="en-US" sz="1500" dirty="0">
                <a:solidFill>
                  <a:srgbClr val="1D1D1F"/>
                </a:solidFill>
                <a:latin typeface="Calibri" pitchFamily="34" charset="0"/>
                <a:ea typeface="Calibri" pitchFamily="34" charset="-122"/>
                <a:cs typeface="Calibri" pitchFamily="34" charset="-120"/>
              </a:rPr>
              <a:t>Open the page in Safari (iPhone) or Chrome (Android).</a:t>
            </a:r>
            <a:endParaRPr lang="en-US" sz="1500" dirty="0"/>
          </a:p>
        </p:txBody>
      </p:sp>
      <p:sp>
        <p:nvSpPr>
          <p:cNvPr id="11" name="Shape 7"/>
          <p:cNvSpPr/>
          <p:nvPr/>
        </p:nvSpPr>
        <p:spPr>
          <a:xfrm>
            <a:off x="5961888" y="2359152"/>
            <a:ext cx="384048" cy="384048"/>
          </a:xfrm>
          <a:prstGeom prst="ellipse">
            <a:avLst/>
          </a:prstGeom>
          <a:solidFill>
            <a:srgbClr val="D8E864"/>
          </a:solidFill>
          <a:ln/>
        </p:spPr>
        <p:txBody>
          <a:bodyPr/>
          <a:lstStyle/>
          <a:p>
            <a:endParaRPr lang="en-US"/>
          </a:p>
        </p:txBody>
      </p:sp>
      <p:sp>
        <p:nvSpPr>
          <p:cNvPr id="12" name="Text 8"/>
          <p:cNvSpPr/>
          <p:nvPr/>
        </p:nvSpPr>
        <p:spPr>
          <a:xfrm>
            <a:off x="5961888" y="2359152"/>
            <a:ext cx="384048" cy="384048"/>
          </a:xfrm>
          <a:prstGeom prst="rect">
            <a:avLst/>
          </a:prstGeom>
          <a:noFill/>
          <a:ln/>
        </p:spPr>
        <p:txBody>
          <a:bodyPr wrap="square" lIns="0" tIns="0" rIns="0" bIns="0" rtlCol="0" anchor="ctr"/>
          <a:lstStyle/>
          <a:p>
            <a:pPr marL="0" indent="0" algn="ctr">
              <a:buNone/>
            </a:pPr>
            <a:r>
              <a:rPr lang="en-US" sz="1500" b="1" dirty="0">
                <a:solidFill>
                  <a:srgbClr val="36420A"/>
                </a:solidFill>
                <a:latin typeface="Calibri" pitchFamily="34" charset="0"/>
                <a:ea typeface="Calibri" pitchFamily="34" charset="-122"/>
                <a:cs typeface="Calibri" pitchFamily="34" charset="-120"/>
              </a:rPr>
              <a:t>2</a:t>
            </a:r>
            <a:endParaRPr lang="en-US" sz="1500" dirty="0"/>
          </a:p>
        </p:txBody>
      </p:sp>
      <p:sp>
        <p:nvSpPr>
          <p:cNvPr id="13" name="Text 9"/>
          <p:cNvSpPr/>
          <p:nvPr/>
        </p:nvSpPr>
        <p:spPr>
          <a:xfrm>
            <a:off x="6528816" y="2331720"/>
            <a:ext cx="4974336" cy="457200"/>
          </a:xfrm>
          <a:prstGeom prst="rect">
            <a:avLst/>
          </a:prstGeom>
          <a:noFill/>
          <a:ln/>
        </p:spPr>
        <p:txBody>
          <a:bodyPr wrap="square" lIns="0" tIns="0" rIns="0" bIns="0" rtlCol="0" anchor="ctr"/>
          <a:lstStyle/>
          <a:p>
            <a:pPr marL="0" indent="0">
              <a:lnSpc>
                <a:spcPts val="2100"/>
              </a:lnSpc>
              <a:buNone/>
            </a:pPr>
            <a:r>
              <a:rPr lang="en-US" sz="1500" dirty="0">
                <a:solidFill>
                  <a:srgbClr val="1D1D1F"/>
                </a:solidFill>
                <a:latin typeface="Calibri" pitchFamily="34" charset="0"/>
                <a:ea typeface="Calibri" pitchFamily="34" charset="-122"/>
                <a:cs typeface="Calibri" pitchFamily="34" charset="-120"/>
              </a:rPr>
              <a:t>Tap the Share button — the square with an arrow.</a:t>
            </a:r>
            <a:endParaRPr lang="en-US" sz="1500" dirty="0"/>
          </a:p>
        </p:txBody>
      </p:sp>
      <p:sp>
        <p:nvSpPr>
          <p:cNvPr id="14" name="Shape 10"/>
          <p:cNvSpPr/>
          <p:nvPr/>
        </p:nvSpPr>
        <p:spPr>
          <a:xfrm>
            <a:off x="5961888" y="3017520"/>
            <a:ext cx="384048" cy="384048"/>
          </a:xfrm>
          <a:prstGeom prst="ellipse">
            <a:avLst/>
          </a:prstGeom>
          <a:solidFill>
            <a:srgbClr val="D8E864"/>
          </a:solidFill>
          <a:ln/>
        </p:spPr>
        <p:txBody>
          <a:bodyPr/>
          <a:lstStyle/>
          <a:p>
            <a:endParaRPr lang="en-US"/>
          </a:p>
        </p:txBody>
      </p:sp>
      <p:sp>
        <p:nvSpPr>
          <p:cNvPr id="15" name="Text 11"/>
          <p:cNvSpPr/>
          <p:nvPr/>
        </p:nvSpPr>
        <p:spPr>
          <a:xfrm>
            <a:off x="5961888" y="3017520"/>
            <a:ext cx="384048" cy="384048"/>
          </a:xfrm>
          <a:prstGeom prst="rect">
            <a:avLst/>
          </a:prstGeom>
          <a:noFill/>
          <a:ln/>
        </p:spPr>
        <p:txBody>
          <a:bodyPr wrap="square" lIns="0" tIns="0" rIns="0" bIns="0" rtlCol="0" anchor="ctr"/>
          <a:lstStyle/>
          <a:p>
            <a:pPr marL="0" indent="0" algn="ctr">
              <a:buNone/>
            </a:pPr>
            <a:r>
              <a:rPr lang="en-US" sz="1500" b="1" dirty="0">
                <a:solidFill>
                  <a:srgbClr val="36420A"/>
                </a:solidFill>
                <a:latin typeface="Calibri" pitchFamily="34" charset="0"/>
                <a:ea typeface="Calibri" pitchFamily="34" charset="-122"/>
                <a:cs typeface="Calibri" pitchFamily="34" charset="-120"/>
              </a:rPr>
              <a:t>3</a:t>
            </a:r>
            <a:endParaRPr lang="en-US" sz="1500" dirty="0"/>
          </a:p>
        </p:txBody>
      </p:sp>
      <p:sp>
        <p:nvSpPr>
          <p:cNvPr id="16" name="Text 12"/>
          <p:cNvSpPr/>
          <p:nvPr/>
        </p:nvSpPr>
        <p:spPr>
          <a:xfrm>
            <a:off x="6528816" y="2990088"/>
            <a:ext cx="4974336" cy="457200"/>
          </a:xfrm>
          <a:prstGeom prst="rect">
            <a:avLst/>
          </a:prstGeom>
          <a:noFill/>
          <a:ln/>
        </p:spPr>
        <p:txBody>
          <a:bodyPr wrap="square" lIns="0" tIns="0" rIns="0" bIns="0" rtlCol="0" anchor="ctr"/>
          <a:lstStyle/>
          <a:p>
            <a:pPr marL="0" indent="0">
              <a:lnSpc>
                <a:spcPts val="2100"/>
              </a:lnSpc>
              <a:buNone/>
            </a:pPr>
            <a:r>
              <a:rPr lang="en-US" sz="1500" dirty="0">
                <a:solidFill>
                  <a:srgbClr val="1D1D1F"/>
                </a:solidFill>
                <a:latin typeface="Calibri" pitchFamily="34" charset="0"/>
                <a:ea typeface="Calibri" pitchFamily="34" charset="-122"/>
                <a:cs typeface="Calibri" pitchFamily="34" charset="-120"/>
              </a:rPr>
              <a:t>Scroll down and tap Add to Home Screen, then Add.</a:t>
            </a:r>
            <a:endParaRPr lang="en-US" sz="1500" dirty="0"/>
          </a:p>
        </p:txBody>
      </p:sp>
      <p:sp>
        <p:nvSpPr>
          <p:cNvPr id="17" name="Shape 13"/>
          <p:cNvSpPr/>
          <p:nvPr/>
        </p:nvSpPr>
        <p:spPr>
          <a:xfrm>
            <a:off x="5961888" y="3675888"/>
            <a:ext cx="384048" cy="384048"/>
          </a:xfrm>
          <a:prstGeom prst="ellipse">
            <a:avLst/>
          </a:prstGeom>
          <a:solidFill>
            <a:srgbClr val="D8E864"/>
          </a:solidFill>
          <a:ln/>
        </p:spPr>
        <p:txBody>
          <a:bodyPr/>
          <a:lstStyle/>
          <a:p>
            <a:endParaRPr lang="en-US"/>
          </a:p>
        </p:txBody>
      </p:sp>
      <p:sp>
        <p:nvSpPr>
          <p:cNvPr id="18" name="Text 14"/>
          <p:cNvSpPr/>
          <p:nvPr/>
        </p:nvSpPr>
        <p:spPr>
          <a:xfrm>
            <a:off x="5961888" y="3675888"/>
            <a:ext cx="384048" cy="384048"/>
          </a:xfrm>
          <a:prstGeom prst="rect">
            <a:avLst/>
          </a:prstGeom>
          <a:noFill/>
          <a:ln/>
        </p:spPr>
        <p:txBody>
          <a:bodyPr wrap="square" lIns="0" tIns="0" rIns="0" bIns="0" rtlCol="0" anchor="ctr"/>
          <a:lstStyle/>
          <a:p>
            <a:pPr marL="0" indent="0" algn="ctr">
              <a:buNone/>
            </a:pPr>
            <a:r>
              <a:rPr lang="en-US" sz="1500" b="1" dirty="0">
                <a:solidFill>
                  <a:srgbClr val="36420A"/>
                </a:solidFill>
                <a:latin typeface="Calibri" pitchFamily="34" charset="0"/>
                <a:ea typeface="Calibri" pitchFamily="34" charset="-122"/>
                <a:cs typeface="Calibri" pitchFamily="34" charset="-120"/>
              </a:rPr>
              <a:t>4</a:t>
            </a:r>
            <a:endParaRPr lang="en-US" sz="1500" dirty="0"/>
          </a:p>
        </p:txBody>
      </p:sp>
      <p:sp>
        <p:nvSpPr>
          <p:cNvPr id="19" name="Text 15"/>
          <p:cNvSpPr/>
          <p:nvPr/>
        </p:nvSpPr>
        <p:spPr>
          <a:xfrm>
            <a:off x="6528816" y="3648456"/>
            <a:ext cx="4974336" cy="457200"/>
          </a:xfrm>
          <a:prstGeom prst="rect">
            <a:avLst/>
          </a:prstGeom>
          <a:noFill/>
          <a:ln/>
        </p:spPr>
        <p:txBody>
          <a:bodyPr wrap="square" lIns="0" tIns="0" rIns="0" bIns="0" rtlCol="0" anchor="ctr"/>
          <a:lstStyle/>
          <a:p>
            <a:pPr marL="0" indent="0">
              <a:lnSpc>
                <a:spcPts val="2100"/>
              </a:lnSpc>
              <a:buNone/>
            </a:pPr>
            <a:r>
              <a:rPr lang="en-US" sz="1500" dirty="0">
                <a:solidFill>
                  <a:srgbClr val="1D1D1F"/>
                </a:solidFill>
                <a:latin typeface="Calibri" pitchFamily="34" charset="0"/>
                <a:ea typeface="Calibri" pitchFamily="34" charset="-122"/>
                <a:cs typeface="Calibri" pitchFamily="34" charset="-120"/>
              </a:rPr>
              <a:t>The icon lands on your home screen. Open it like any app.</a:t>
            </a:r>
            <a:endParaRPr lang="en-US" sz="1500" dirty="0"/>
          </a:p>
        </p:txBody>
      </p:sp>
      <p:sp>
        <p:nvSpPr>
          <p:cNvPr id="20" name="Shape 16"/>
          <p:cNvSpPr/>
          <p:nvPr/>
        </p:nvSpPr>
        <p:spPr>
          <a:xfrm>
            <a:off x="5961888" y="4517136"/>
            <a:ext cx="5541264" cy="1481328"/>
          </a:xfrm>
          <a:prstGeom prst="roundRect">
            <a:avLst>
              <a:gd name="adj" fmla="val 11111"/>
            </a:avLst>
          </a:prstGeom>
          <a:solidFill>
            <a:srgbClr val="F5F8DD"/>
          </a:solidFill>
          <a:ln w="12700">
            <a:solidFill>
              <a:srgbClr val="F5F8DD"/>
            </a:solidFill>
            <a:prstDash val="solid"/>
          </a:ln>
        </p:spPr>
        <p:txBody>
          <a:bodyPr/>
          <a:lstStyle/>
          <a:p>
            <a:endParaRPr lang="en-US"/>
          </a:p>
        </p:txBody>
      </p:sp>
      <p:sp>
        <p:nvSpPr>
          <p:cNvPr id="21" name="Text 17"/>
          <p:cNvSpPr/>
          <p:nvPr/>
        </p:nvSpPr>
        <p:spPr>
          <a:xfrm>
            <a:off x="6272784" y="4718304"/>
            <a:ext cx="4956048" cy="329184"/>
          </a:xfrm>
          <a:prstGeom prst="rect">
            <a:avLst/>
          </a:prstGeom>
          <a:noFill/>
          <a:ln/>
        </p:spPr>
        <p:txBody>
          <a:bodyPr wrap="square" lIns="0" tIns="0" rIns="0" bIns="0" rtlCol="0" anchor="ctr"/>
          <a:lstStyle/>
          <a:p>
            <a:pPr marL="0" indent="0">
              <a:buNone/>
            </a:pPr>
            <a:r>
              <a:rPr lang="en-US" sz="1700" b="1" dirty="0">
                <a:solidFill>
                  <a:srgbClr val="36420A"/>
                </a:solidFill>
                <a:latin typeface="Calibri" pitchFamily="34" charset="0"/>
                <a:ea typeface="Calibri" pitchFamily="34" charset="-122"/>
                <a:cs typeface="Calibri" pitchFamily="34" charset="-120"/>
              </a:rPr>
              <a:t>Sign in with Google to save your progress.</a:t>
            </a:r>
            <a:endParaRPr lang="en-US" sz="1700" dirty="0"/>
          </a:p>
        </p:txBody>
      </p:sp>
      <p:sp>
        <p:nvSpPr>
          <p:cNvPr id="22" name="Text 18"/>
          <p:cNvSpPr/>
          <p:nvPr/>
        </p:nvSpPr>
        <p:spPr>
          <a:xfrm>
            <a:off x="6272784" y="5102352"/>
            <a:ext cx="4956048" cy="841248"/>
          </a:xfrm>
          <a:prstGeom prst="rect">
            <a:avLst/>
          </a:prstGeom>
          <a:noFill/>
          <a:ln/>
        </p:spPr>
        <p:txBody>
          <a:bodyPr wrap="square" lIns="0" tIns="0" rIns="0" bIns="0" rtlCol="0" anchor="ctr"/>
          <a:lstStyle/>
          <a:p>
            <a:pPr marL="0" indent="0">
              <a:lnSpc>
                <a:spcPts val="1800"/>
              </a:lnSpc>
              <a:buNone/>
            </a:pPr>
            <a:r>
              <a:rPr lang="en-US" sz="1300" dirty="0">
                <a:solidFill>
                  <a:srgbClr val="5F6D12"/>
                </a:solidFill>
                <a:latin typeface="Calibri" pitchFamily="34" charset="0"/>
                <a:ea typeface="Calibri" pitchFamily="34" charset="-122"/>
                <a:cs typeface="Calibri" pitchFamily="34" charset="-120"/>
              </a:rPr>
              <a:t>Without it, your words, medals and history live only on that one phone — and they can be lost. Signing in also lets you choose your character and put your name on the Hall of Names.</a:t>
            </a:r>
            <a:endParaRPr lang="en-US" sz="1300" dirty="0"/>
          </a:p>
        </p:txBody>
      </p:sp>
      <p:pic>
        <p:nvPicPr>
          <p:cNvPr id="23" name="Picture 22">
            <a:extLst>
              <a:ext uri="{FF2B5EF4-FFF2-40B4-BE49-F238E27FC236}">
                <a16:creationId xmlns:a16="http://schemas.microsoft.com/office/drawing/2014/main" id="{3FC68FE3-82D7-B44E-D075-768A2C79B213}"/>
              </a:ext>
            </a:extLst>
          </p:cNvPr>
          <p:cNvPicPr>
            <a:picLocks noChangeAspect="1"/>
          </p:cNvPicPr>
          <p:nvPr/>
        </p:nvPicPr>
        <p:blipFill>
          <a:blip r:embed="rId5"/>
          <a:stretch>
            <a:fillRect/>
          </a:stretch>
        </p:blipFill>
        <p:spPr>
          <a:xfrm>
            <a:off x="809091" y="5804584"/>
            <a:ext cx="476671" cy="442623"/>
          </a:xfrm>
          <a:prstGeom prst="rect">
            <a:avLst/>
          </a:prstGeom>
        </p:spPr>
      </p:pic>
      <p:pic>
        <p:nvPicPr>
          <p:cNvPr id="24" name="Picture 23">
            <a:extLst>
              <a:ext uri="{FF2B5EF4-FFF2-40B4-BE49-F238E27FC236}">
                <a16:creationId xmlns:a16="http://schemas.microsoft.com/office/drawing/2014/main" id="{2BEA4CAF-E950-8E46-9BB2-98640B17A7AA}"/>
              </a:ext>
            </a:extLst>
          </p:cNvPr>
          <p:cNvPicPr>
            <a:picLocks noChangeAspect="1"/>
          </p:cNvPicPr>
          <p:nvPr/>
        </p:nvPicPr>
        <p:blipFill>
          <a:blip r:embed="rId5"/>
          <a:stretch>
            <a:fillRect/>
          </a:stretch>
        </p:blipFill>
        <p:spPr>
          <a:xfrm>
            <a:off x="10447135" y="2318865"/>
            <a:ext cx="476671" cy="44262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769</Words>
  <Application>Microsoft Macintosh PowerPoint</Application>
  <PresentationFormat>Widescreen</PresentationFormat>
  <Paragraphs>86</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Korean Lab</dc:title>
  <dc:subject>PptxGenJS Presentation</dc:subject>
  <dc:creator>North Alabama Korean School</dc:creator>
  <cp:lastModifiedBy>demi pysh</cp:lastModifiedBy>
  <cp:revision>2</cp:revision>
  <dcterms:created xsi:type="dcterms:W3CDTF">2026-08-15T01:05:21Z</dcterms:created>
  <dcterms:modified xsi:type="dcterms:W3CDTF">2026-08-15T01:22:43Z</dcterms:modified>
</cp:coreProperties>
</file>