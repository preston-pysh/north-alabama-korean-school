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40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화면으로 시작합니다. 한국어 실험실은 무료이며 우리 학교가 직접 만들었습니다. 앱을 내려받을 필요 없이 휴대폰 브라우저에서 바로 열립니다. 오늘은 작동 방식을 보여 드린 뒤, 선생님들 휴대폰에 저장하는 것까지 함께 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순서입니다. 화면에 사이트를 띄우고 카드를 두세 장 넘깁니다. 그림을 두 번 눌러 서로 다른 목소리가 나오는 것을 들려 드립니다. 그다음 「알아요」를 눌러 카드가 빠지는 것을 보여 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37%는 과장 없이 계산한 수치이며 프로그램 안에서 그 근거를 확인할 수 있습니다. 진행 상황 화면 아래쪽의 비중 문구를 누르면 됩니다. 모든 단어가 아니라 일상 구어의 내용어를 기준으로 한 수치입니다.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학생들은 메달을, 어른들은 음악을 목표로 삼습니다. 아직 열리지 않은 것을 세어 보여 주는 화면은 없습니다. 이미 얻은 것만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화면에서는 시간을 충분히 주십시오. 교실을 돌면서 모든 휴대폰에서 페이지가 실제로 열렸는지 확인한 뒤 다음으로 넘어가십시오. 다음 화면은 페이지가 열려 있어야 의미가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부분은 두 번 말씀해 주십시오. 구글 계정으로 로그인하지 않으면 학습 기록이 따라가지 않습니다. 나머지는 선택이지만 이것은 선택이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logo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25296" y="5760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93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북알라바마 한국학교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4864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E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온라인 학습 도구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실험실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566928" y="3310128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900" dirty="0">
                <a:solidFill>
                  <a:srgbClr val="CF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그림을 보고 소리를 들으며 단어를 익힙니다.</a:t>
            </a:r>
            <a:endParaRPr lang="en-US" sz="19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900" dirty="0">
                <a:solidFill>
                  <a:srgbClr val="CF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모국어를 배우던 방식 그대로입니다.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590288"/>
            <a:ext cx="4224528" cy="566928"/>
          </a:xfrm>
          <a:prstGeom prst="roundRect">
            <a:avLst>
              <a:gd name="adj" fmla="val 50000"/>
            </a:avLst>
          </a:prstGeom>
          <a:solidFill>
            <a:srgbClr val="D8E864"/>
          </a:solidFill>
          <a:ln w="12700">
            <a:solidFill>
              <a:srgbClr val="D8E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4590288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6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· 앱 설치 없음 · 모든 휴대폰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northalabamakoreanschool.org/learn-korean</a:t>
            </a:r>
            <a:endParaRPr lang="en-US" sz="1500" dirty="0"/>
          </a:p>
        </p:txBody>
      </p:sp>
      <p:pic>
        <p:nvPicPr>
          <p:cNvPr id="10" name="Image 1" descr="png/n-card-가족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170432"/>
            <a:ext cx="2103120" cy="2103120"/>
          </a:xfrm>
          <a:prstGeom prst="rect">
            <a:avLst/>
          </a:prstGeom>
        </p:spPr>
      </p:pic>
      <p:pic>
        <p:nvPicPr>
          <p:cNvPr id="11" name="Image 2" descr="png/n-card-비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48" y="2212848"/>
            <a:ext cx="2103120" cy="2103120"/>
          </a:xfrm>
          <a:prstGeom prst="rect">
            <a:avLst/>
          </a:prstGeom>
        </p:spPr>
      </p:pic>
      <p:pic>
        <p:nvPicPr>
          <p:cNvPr id="12" name="Image 3" descr="png/n-card-사랑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3255264"/>
            <a:ext cx="2103120" cy="2103120"/>
          </a:xfrm>
          <a:prstGeom prst="rect">
            <a:avLst/>
          </a:prstGeom>
        </p:spPr>
      </p:pic>
      <p:pic>
        <p:nvPicPr>
          <p:cNvPr id="13" name="Image 4" descr="png/n-card-물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48" y="429768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</a:t>
            </a:r>
            <a:r>
              <a:rPr lang="en-US" sz="1400" b="1" kern="0" dirty="0" err="1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장의</a:t>
            </a:r>
            <a:r>
              <a:rPr lang="en-US" sz="1400" b="1" kern="0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kern="0" dirty="0" err="1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카드는 이렇게 작동합니다</a:t>
            </a:r>
            <a:endParaRPr lang="en-US" sz="4000" dirty="0"/>
          </a:p>
        </p:txBody>
      </p:sp>
      <p:pic>
        <p:nvPicPr>
          <p:cNvPr id="4" name="Image 0" descr="png/w-card-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28800"/>
            <a:ext cx="397764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2688" y="4956048"/>
            <a:ext cx="1609344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228600" dist="63500" dir="5400000" algn="bl" rotWithShape="0">
              <a:srgbClr val="1634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32688" y="495604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30368" y="1975104"/>
            <a:ext cx="457200" cy="457200"/>
          </a:xfrm>
          <a:prstGeom prst="ellipse">
            <a:avLst/>
          </a:prstGeom>
          <a:solidFill>
            <a:srgbClr val="D8E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230368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6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07024" y="1938528"/>
            <a:ext cx="5614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 하나에 단어 하나입니다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07024" y="2359152"/>
            <a:ext cx="5614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그림이 나오면 원어민의 발음이 함께 들립니다. 영어 뜻은 원할 때만 보이고, 한 번 누르면 사라집니다.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0368" y="3364992"/>
            <a:ext cx="457200" cy="457200"/>
          </a:xfrm>
          <a:prstGeom prst="ellipse">
            <a:avLst/>
          </a:prstGeom>
          <a:solidFill>
            <a:srgbClr val="D8E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30368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6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907024" y="3328416"/>
            <a:ext cx="5614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그림을 누를 때마다 다른 목소리가 들립니다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907024" y="3749040"/>
            <a:ext cx="5614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단어를 원어민 네 명이 나누어 녹음했습니다. 한 사람의 발음이 아니라 소리 자체를 익히게 됩니다.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230368" y="4754880"/>
            <a:ext cx="457200" cy="457200"/>
          </a:xfrm>
          <a:prstGeom prst="ellipse">
            <a:avLst/>
          </a:prstGeom>
          <a:solidFill>
            <a:srgbClr val="D8E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230368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6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907024" y="4718304"/>
            <a:ext cx="5614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「알아요」를 누르면 그 카드는 빠집니다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907024" y="5138928"/>
            <a:ext cx="5614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배울수록 카드 묶음이 줄어듭니다. 밀린 복습이 쌓여 부담을 주는 일이 없습니다.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다른가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많이 쓰이는 단어를,</a:t>
            </a:r>
            <a:endParaRPr lang="en-US" sz="34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빨리 도움이 되는 순서로 가르칩니다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542032"/>
            <a:ext cx="2852928" cy="2395728"/>
          </a:xfrm>
          <a:prstGeom prst="roundRect">
            <a:avLst>
              <a:gd name="adj" fmla="val 6870"/>
            </a:avLst>
          </a:prstGeom>
          <a:solidFill>
            <a:srgbClr val="F5F8DD"/>
          </a:solidFill>
          <a:ln w="12700">
            <a:solidFill>
              <a:srgbClr val="F5F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2761488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36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96112" y="384048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학교가 만든</a:t>
            </a:r>
          </a:p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 카드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785616" y="2542032"/>
            <a:ext cx="2852928" cy="2395728"/>
          </a:xfrm>
          <a:prstGeom prst="roundRect">
            <a:avLst>
              <a:gd name="adj" fmla="val 6870"/>
            </a:avLst>
          </a:prstGeom>
          <a:solidFill>
            <a:srgbClr val="F5F8DD"/>
          </a:solidFill>
          <a:ln w="12700">
            <a:solidFill>
              <a:srgbClr val="F5F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85616" y="2761488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36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4023360" y="384048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구어 한국어에서</a:t>
            </a:r>
            <a:endParaRPr lang="en-US" sz="135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차지하는 비중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004304" y="2542032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빈도순으로 배웁니다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04304" y="2889504"/>
            <a:ext cx="44988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구어에서 가장 많이 쓰이는 단어 1,500개를 순위로 정리한 뒤, 그림으로 나타낼 수 있는 단어를 빈도순으로 배열했습니다.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04304" y="3913632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단어마다 이해도를 측정합니다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04304" y="4261104"/>
            <a:ext cx="44988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여부와 응답 속도, 혼동한 단어까지 반영해 단어별 자신감 점수를 갱신합니다. 아직 약한 단어는 다시 나오고, 확실한 단어는 나오지 않습니다.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04304" y="5285232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부담을 주지 않습니다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04304" y="5632704"/>
            <a:ext cx="44988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배운 단어의 이해도가 낮아지면 새 단어가 잠시 멈춥니다. 기초가 회복될 때까지 기다리므로 밀린 복습이 쌓이지 않습니다.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60533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37%의 산출 근거와 출처는 프로그램 안에 그대로 공개되어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메달을 키우고, 음악을 하나씩 엽니다</a:t>
            </a:r>
            <a:endParaRPr lang="en-US" sz="3600" dirty="0"/>
          </a:p>
        </p:txBody>
      </p:sp>
      <p:pic>
        <p:nvPicPr>
          <p:cNvPr id="4" name="Image 0" descr="assets/medals/medal-0100-seed@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066544"/>
            <a:ext cx="1810512" cy="1810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402336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씨앗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58368" y="437083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439216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100단어</a:t>
            </a:r>
            <a:endParaRPr lang="en-US" sz="1250" dirty="0"/>
          </a:p>
        </p:txBody>
      </p:sp>
      <p:pic>
        <p:nvPicPr>
          <p:cNvPr id="8" name="Image 1" descr="assets/medals/medal-0500-sprout@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066544"/>
            <a:ext cx="1810512" cy="18105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06624" y="402336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새싹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2706624" y="437083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706624" y="439216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500단어</a:t>
            </a:r>
            <a:endParaRPr lang="en-US" sz="1250" dirty="0"/>
          </a:p>
        </p:txBody>
      </p:sp>
      <p:pic>
        <p:nvPicPr>
          <p:cNvPr id="12" name="Image 2" descr="assets/medals/medal-1000-bloom@5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176" y="2066544"/>
            <a:ext cx="1810512" cy="18105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402336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꽃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754880" y="437083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754880" y="439216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1,000단어</a:t>
            </a:r>
            <a:endParaRPr lang="en-US" sz="1250" dirty="0"/>
          </a:p>
        </p:txBody>
      </p:sp>
      <p:pic>
        <p:nvPicPr>
          <p:cNvPr id="16" name="Image 3" descr="assets/medals/medal-1500-mugunghwa@5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2066544"/>
            <a:ext cx="1810512" cy="18105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03136" y="402336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무궁화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803136" y="437083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803136" y="439216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1,500단어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58368" y="535838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메달은 모두 열다섯 개이며, 우리 학교 학급 단계와 같은 씨앗에서 무궁화까지의 순서입니다.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778240" y="1920240"/>
            <a:ext cx="2724912" cy="3803904"/>
          </a:xfrm>
          <a:prstGeom prst="roundRect">
            <a:avLst>
              <a:gd name="adj" fmla="val 6040"/>
            </a:avLst>
          </a:prstGeom>
          <a:solidFill>
            <a:srgbClr val="16345C"/>
          </a:solidFill>
          <a:ln w="12700">
            <a:solidFill>
              <a:srgbClr val="163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ng/boombox-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7424" y="2249424"/>
            <a:ext cx="2066544" cy="18470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997696" y="4315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음악 플레이어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8997696" y="4681728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CF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처음에는 먼지가 쌓여 있습니다. 확인된 단어 50개를 넘기면 깨끗해지고, 그 뒤로 메달을 받을 때마다 노래가 한 곡씩 늘어납니다.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logo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5488"/>
            <a:ext cx="53035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16736" y="548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E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시작하세요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58368" y="1847088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카메라를 여기에 비추세요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76656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CF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내려받을 앱이 없습니다. 계정 없이도 시작할 수 있습니다.</a:t>
            </a:r>
            <a:endParaRPr lang="en-US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CF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열면 바로 첫 카드가 나옵니다.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76656" y="398678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93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입력하셔도 됩니다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4315968"/>
            <a:ext cx="6547104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4315968"/>
            <a:ext cx="6547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3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northalabamakoreanschool.org/learn-korean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76656" y="535838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휴대폰, 태블릿, 컴퓨터에서 모두 사용할 수 있습니다.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80960" y="1316736"/>
            <a:ext cx="4041648" cy="4041648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1517904"/>
            <a:ext cx="3639312" cy="3639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5522976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실험실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휴대폰에 저장하기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번만 누르면 앱처럼 쓸 수 있습니다</a:t>
            </a:r>
            <a:endParaRPr lang="en-US" sz="3400" dirty="0"/>
          </a:p>
        </p:txBody>
      </p:sp>
      <p:pic>
        <p:nvPicPr>
          <p:cNvPr id="4" name="Image 0" descr="pho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2542032" cy="4206240"/>
          </a:xfrm>
          <a:prstGeom prst="rect">
            <a:avLst/>
          </a:prstGeom>
        </p:spPr>
      </p:pic>
      <p:pic>
        <p:nvPicPr>
          <p:cNvPr id="5" name="Image 1" descr="pho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572768"/>
            <a:ext cx="2542032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" y="587044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메뉴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3273552" y="587044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화면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961888" y="1700784"/>
            <a:ext cx="384048" cy="384048"/>
          </a:xfrm>
          <a:prstGeom prst="ellipse">
            <a:avLst/>
          </a:prstGeom>
          <a:solidFill>
            <a:srgbClr val="D8E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961888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6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528816" y="1673352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아이폰은 사파리, 안드로이드는 크롬에서 엽니다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961888" y="2359152"/>
            <a:ext cx="384048" cy="384048"/>
          </a:xfrm>
          <a:prstGeom prst="ellipse">
            <a:avLst/>
          </a:prstGeom>
          <a:solidFill>
            <a:srgbClr val="D8E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961888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6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28816" y="2331720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화살표가 있는 공유 버튼을 누릅니다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961888" y="3017520"/>
            <a:ext cx="384048" cy="384048"/>
          </a:xfrm>
          <a:prstGeom prst="ellipse">
            <a:avLst/>
          </a:prstGeom>
          <a:solidFill>
            <a:srgbClr val="D8E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961888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6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28816" y="2990088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아래로 내려 「홈 화면에 추가」를 누릅니다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961888" y="3675888"/>
            <a:ext cx="384048" cy="384048"/>
          </a:xfrm>
          <a:prstGeom prst="ellipse">
            <a:avLst/>
          </a:prstGeom>
          <a:solidFill>
            <a:srgbClr val="D8E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961888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6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28816" y="3648456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화면에 아이콘이 생기고, 앱처럼 열립니다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961888" y="4517136"/>
            <a:ext cx="5541264" cy="1481328"/>
          </a:xfrm>
          <a:prstGeom prst="roundRect">
            <a:avLst>
              <a:gd name="adj" fmla="val 11111"/>
            </a:avLst>
          </a:prstGeom>
          <a:solidFill>
            <a:srgbClr val="F5F8DD"/>
          </a:solidFill>
          <a:ln w="12700">
            <a:solidFill>
              <a:srgbClr val="F5F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272784" y="471830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계정으로 로그인해야 기록이 저장됩니다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272784" y="5102352"/>
            <a:ext cx="4956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로그인하지 않으면 배운 단어와 메달, 학습 기록이 그 휴대폰에만 남고 사라질 수 있습니다. 로그인하면 캐릭터를 고르고 명예의 전당에 이름을 올릴 수 있습니다.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C68FE3-82D7-B44E-D075-768A2C79B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091" y="5804584"/>
            <a:ext cx="476671" cy="4426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BEA4CAF-E950-8E46-9BB2-98640B17A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7135" y="2318865"/>
            <a:ext cx="476671" cy="4426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570</Words>
  <Application>Microsoft Macintosh PowerPoint</Application>
  <PresentationFormat>Widescreen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한국어 실험실</dc:title>
  <dc:subject>PptxGenJS Presentation</dc:subject>
  <dc:creator>North Alabama Korean School</dc:creator>
  <cp:lastModifiedBy>demi pysh</cp:lastModifiedBy>
  <cp:revision>2</cp:revision>
  <dcterms:created xsi:type="dcterms:W3CDTF">2026-08-15T01:05:21Z</dcterms:created>
  <dcterms:modified xsi:type="dcterms:W3CDTF">2026-08-15T02:15:53Z</dcterms:modified>
</cp:coreProperties>
</file>